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0" r:id="rId22"/>
    <p:sldId id="278" r:id="rId23"/>
    <p:sldId id="279" r:id="rId24"/>
    <p:sldId id="282" r:id="rId25"/>
    <p:sldId id="283" r:id="rId26"/>
    <p:sldId id="284" r:id="rId27"/>
    <p:sldId id="281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>
        <p:scale>
          <a:sx n="75" d="100"/>
          <a:sy n="75" d="100"/>
        </p:scale>
        <p:origin x="119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9CF38-4817-4323-9844-70889C7BCA4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00A80-154A-41FE-B208-3BFDE428D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53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18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BCDB64-8AD8-4B51-A34D-49D8AC4378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18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52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56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1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79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5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17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5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06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43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5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8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1AFCC-5C89-45B4-AE69-21BF1486DAD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EC7AD-4692-45AB-86E0-C276D4C8A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00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NULL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NULL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326799" cy="578396"/>
          </a:xfrm>
        </p:spPr>
        <p:txBody>
          <a:bodyPr>
            <a:normAutofit/>
          </a:bodyPr>
          <a:lstStyle/>
          <a:p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E2E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 워터마크 모델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공통적인 구조</a:t>
            </a:r>
          </a:p>
        </p:txBody>
      </p:sp>
      <p:pic>
        <p:nvPicPr>
          <p:cNvPr id="5" name="Picture 2" descr="Original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227" y="4024420"/>
            <a:ext cx="765560" cy="50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89284" y="1473764"/>
            <a:ext cx="103654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“01010110”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74946" y="1191294"/>
            <a:ext cx="1865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message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04528" y="3461410"/>
            <a:ext cx="1086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Original Image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순서도: 수동 연산 65"/>
          <p:cNvSpPr/>
          <p:nvPr/>
        </p:nvSpPr>
        <p:spPr>
          <a:xfrm rot="16200000">
            <a:off x="9520006" y="3471629"/>
            <a:ext cx="860552" cy="806787"/>
          </a:xfrm>
          <a:prstGeom prst="flowChartManualOperat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111174" y="4664648"/>
            <a:ext cx="1983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</a:t>
            </a:r>
            <a:b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Decoder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284078" y="1469780"/>
            <a:ext cx="113155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“01010110”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475297" y="1046349"/>
            <a:ext cx="273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Recovered</a:t>
            </a:r>
            <a:b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message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그래픽 20" descr="데이터베이스 단색으로 채워진">
            <a:extLst>
              <a:ext uri="{FF2B5EF4-FFF2-40B4-BE49-F238E27FC236}">
                <a16:creationId xmlns:a16="http://schemas.microsoft.com/office/drawing/2014/main" id="{813258B9-DC56-459A-9D33-3D09349447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05" y="3429809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67EEFB5-D829-4E28-AE39-9D80E7C1B671}"/>
              </a:ext>
            </a:extLst>
          </p:cNvPr>
          <p:cNvSpPr txBox="1"/>
          <p:nvPr/>
        </p:nvSpPr>
        <p:spPr>
          <a:xfrm>
            <a:off x="715630" y="4377859"/>
            <a:ext cx="7305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Datasets</a:t>
            </a:r>
            <a:endParaRPr lang="ko-KR" altLang="en-US" sz="9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471191" y="2907754"/>
            <a:ext cx="2511971" cy="1952399"/>
          </a:xfrm>
          <a:prstGeom prst="rect">
            <a:avLst/>
          </a:prstGeom>
          <a:noFill/>
          <a:ln w="349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395253" y="4860845"/>
            <a:ext cx="2511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Encoder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2536239" y="3423898"/>
            <a:ext cx="2367810" cy="1142563"/>
            <a:chOff x="2007830" y="3319726"/>
            <a:chExt cx="2367810" cy="1142563"/>
          </a:xfrm>
        </p:grpSpPr>
        <p:sp>
          <p:nvSpPr>
            <p:cNvPr id="10" name="순서도: 수동 연산 9"/>
            <p:cNvSpPr/>
            <p:nvPr/>
          </p:nvSpPr>
          <p:spPr>
            <a:xfrm rot="16200000">
              <a:off x="1944190" y="3388455"/>
              <a:ext cx="1137474" cy="1010194"/>
            </a:xfrm>
            <a:prstGeom prst="flowChartManualOperation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순서도: 수동 연산 11"/>
            <p:cNvSpPr/>
            <p:nvPr/>
          </p:nvSpPr>
          <p:spPr>
            <a:xfrm rot="5400000">
              <a:off x="3301806" y="3383366"/>
              <a:ext cx="1137474" cy="1010194"/>
            </a:xfrm>
            <a:prstGeom prst="flowChartManualOperation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3094106" y="3598986"/>
              <a:ext cx="174434" cy="57605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23" name="직선 화살표 연결선 22"/>
          <p:cNvCxnSpPr>
            <a:stCxn id="21" idx="3"/>
            <a:endCxn id="35" idx="1"/>
          </p:cNvCxnSpPr>
          <p:nvPr/>
        </p:nvCxnSpPr>
        <p:spPr>
          <a:xfrm flipV="1">
            <a:off x="1550905" y="3883954"/>
            <a:ext cx="920286" cy="30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141464" y="2930241"/>
            <a:ext cx="2163243" cy="1904885"/>
          </a:xfrm>
          <a:prstGeom prst="rect">
            <a:avLst/>
          </a:prstGeom>
          <a:noFill/>
          <a:ln w="349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8" name="Picture 4" descr="Result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072" y="3962747"/>
            <a:ext cx="765560" cy="50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4910814" y="3398108"/>
            <a:ext cx="132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watermarked 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6" name="Picture 4" descr="Result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542" y="4528611"/>
            <a:ext cx="765441" cy="50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" descr="Result Imag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442" y="3951199"/>
            <a:ext cx="764541" cy="50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화살표 연결선 59"/>
          <p:cNvCxnSpPr>
            <a:stCxn id="69" idx="2"/>
            <a:endCxn id="4" idx="0"/>
          </p:cNvCxnSpPr>
          <p:nvPr/>
        </p:nvCxnSpPr>
        <p:spPr>
          <a:xfrm>
            <a:off x="3702261" y="2705700"/>
            <a:ext cx="7471" cy="99745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69" idx="2"/>
            <a:endCxn id="10" idx="3"/>
          </p:cNvCxnSpPr>
          <p:nvPr/>
        </p:nvCxnSpPr>
        <p:spPr>
          <a:xfrm rot="5400000">
            <a:off x="2953282" y="2793755"/>
            <a:ext cx="837034" cy="660925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35" idx="3"/>
            <a:endCxn id="28" idx="1"/>
          </p:cNvCxnSpPr>
          <p:nvPr/>
        </p:nvCxnSpPr>
        <p:spPr>
          <a:xfrm flipV="1">
            <a:off x="4983162" y="3882684"/>
            <a:ext cx="1158302" cy="127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903448" y="4860153"/>
            <a:ext cx="2511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Attacking 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Module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4" name="직선 화살표 연결선 93"/>
          <p:cNvCxnSpPr>
            <a:stCxn id="28" idx="3"/>
            <a:endCxn id="134" idx="1"/>
          </p:cNvCxnSpPr>
          <p:nvPr/>
        </p:nvCxnSpPr>
        <p:spPr>
          <a:xfrm>
            <a:off x="8304707" y="3882684"/>
            <a:ext cx="1111795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134" idx="3"/>
            <a:endCxn id="76" idx="3"/>
          </p:cNvCxnSpPr>
          <p:nvPr/>
        </p:nvCxnSpPr>
        <p:spPr>
          <a:xfrm flipH="1" flipV="1">
            <a:off x="10415636" y="1608280"/>
            <a:ext cx="283440" cy="2274405"/>
          </a:xfrm>
          <a:prstGeom prst="bentConnector3">
            <a:avLst>
              <a:gd name="adj1" fmla="val -80652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281380" y="3368429"/>
            <a:ext cx="120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Attacked Image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6" name="그림 1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8997" y="3264902"/>
            <a:ext cx="2062444" cy="1474915"/>
          </a:xfrm>
          <a:prstGeom prst="rect">
            <a:avLst/>
          </a:prstGeom>
        </p:spPr>
      </p:pic>
      <p:cxnSp>
        <p:nvCxnSpPr>
          <p:cNvPr id="121" name="꺾인 연결선 120"/>
          <p:cNvCxnSpPr>
            <a:stCxn id="5" idx="2"/>
            <a:endCxn id="38" idx="2"/>
          </p:cNvCxnSpPr>
          <p:nvPr/>
        </p:nvCxnSpPr>
        <p:spPr>
          <a:xfrm rot="5400000" flipH="1" flipV="1">
            <a:off x="3688092" y="2689237"/>
            <a:ext cx="61673" cy="3627845"/>
          </a:xfrm>
          <a:prstGeom prst="bentConnector3">
            <a:avLst>
              <a:gd name="adj1" fmla="val -1420881"/>
            </a:avLst>
          </a:prstGeom>
          <a:ln w="31750">
            <a:solidFill>
              <a:schemeClr val="accent1"/>
            </a:solidFill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>
            <a:stCxn id="8" idx="3"/>
            <a:endCxn id="76" idx="1"/>
          </p:cNvCxnSpPr>
          <p:nvPr/>
        </p:nvCxnSpPr>
        <p:spPr>
          <a:xfrm flipV="1">
            <a:off x="6125825" y="1608280"/>
            <a:ext cx="3158253" cy="3984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297174" y="1669926"/>
            <a:ext cx="2986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Message Loss(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주로 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BCE)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44138" y="5457852"/>
            <a:ext cx="2511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reconstruction loss</a:t>
            </a:r>
            <a:b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(GAN, LPIPS, YUV…)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9416502" y="3169235"/>
            <a:ext cx="1282574" cy="1426899"/>
          </a:xfrm>
          <a:prstGeom prst="rect">
            <a:avLst/>
          </a:prstGeom>
          <a:noFill/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89439" y="2116367"/>
            <a:ext cx="186521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Message Module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5" name="꺾인 연결선 54"/>
          <p:cNvCxnSpPr>
            <a:stCxn id="8" idx="1"/>
            <a:endCxn id="69" idx="0"/>
          </p:cNvCxnSpPr>
          <p:nvPr/>
        </p:nvCxnSpPr>
        <p:spPr>
          <a:xfrm rot="10800000" flipV="1">
            <a:off x="3702262" y="1612263"/>
            <a:ext cx="1387023" cy="191767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2972182" y="1804031"/>
            <a:ext cx="1460158" cy="901669"/>
          </a:xfrm>
          <a:prstGeom prst="rect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순서도: 연결자 56"/>
          <p:cNvSpPr/>
          <p:nvPr/>
        </p:nvSpPr>
        <p:spPr>
          <a:xfrm>
            <a:off x="3429477" y="1852130"/>
            <a:ext cx="249957" cy="266118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순서도: 연결자 88"/>
          <p:cNvSpPr/>
          <p:nvPr/>
        </p:nvSpPr>
        <p:spPr>
          <a:xfrm>
            <a:off x="3742216" y="1852130"/>
            <a:ext cx="249957" cy="266118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순서도: 연결자 89"/>
          <p:cNvSpPr/>
          <p:nvPr/>
        </p:nvSpPr>
        <p:spPr>
          <a:xfrm>
            <a:off x="3127863" y="2400827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순서도: 연결자 90"/>
          <p:cNvSpPr/>
          <p:nvPr/>
        </p:nvSpPr>
        <p:spPr>
          <a:xfrm>
            <a:off x="3435040" y="2398766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순서도: 연결자 91"/>
          <p:cNvSpPr/>
          <p:nvPr/>
        </p:nvSpPr>
        <p:spPr>
          <a:xfrm>
            <a:off x="3742217" y="2396939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순서도: 연결자 94"/>
          <p:cNvSpPr/>
          <p:nvPr/>
        </p:nvSpPr>
        <p:spPr>
          <a:xfrm>
            <a:off x="4054956" y="2396939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/>
          <p:cNvCxnSpPr>
            <a:stCxn id="57" idx="4"/>
            <a:endCxn id="90" idx="0"/>
          </p:cNvCxnSpPr>
          <p:nvPr/>
        </p:nvCxnSpPr>
        <p:spPr>
          <a:xfrm flipH="1">
            <a:off x="3252842" y="2118248"/>
            <a:ext cx="301614" cy="282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>
            <a:stCxn id="57" idx="4"/>
            <a:endCxn id="91" idx="0"/>
          </p:cNvCxnSpPr>
          <p:nvPr/>
        </p:nvCxnSpPr>
        <p:spPr>
          <a:xfrm>
            <a:off x="3554456" y="2118248"/>
            <a:ext cx="5563" cy="2805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57" idx="4"/>
            <a:endCxn id="92" idx="0"/>
          </p:cNvCxnSpPr>
          <p:nvPr/>
        </p:nvCxnSpPr>
        <p:spPr>
          <a:xfrm>
            <a:off x="3554456" y="2118248"/>
            <a:ext cx="312740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57" idx="4"/>
            <a:endCxn id="95" idx="0"/>
          </p:cNvCxnSpPr>
          <p:nvPr/>
        </p:nvCxnSpPr>
        <p:spPr>
          <a:xfrm>
            <a:off x="3554456" y="2118248"/>
            <a:ext cx="625479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>
            <a:stCxn id="89" idx="4"/>
            <a:endCxn id="90" idx="0"/>
          </p:cNvCxnSpPr>
          <p:nvPr/>
        </p:nvCxnSpPr>
        <p:spPr>
          <a:xfrm flipH="1">
            <a:off x="3252842" y="2118248"/>
            <a:ext cx="614353" cy="282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stCxn id="89" idx="4"/>
            <a:endCxn id="91" idx="0"/>
          </p:cNvCxnSpPr>
          <p:nvPr/>
        </p:nvCxnSpPr>
        <p:spPr>
          <a:xfrm flipH="1">
            <a:off x="3560019" y="2118248"/>
            <a:ext cx="307176" cy="2805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89" idx="4"/>
            <a:endCxn id="92" idx="0"/>
          </p:cNvCxnSpPr>
          <p:nvPr/>
        </p:nvCxnSpPr>
        <p:spPr>
          <a:xfrm>
            <a:off x="3867195" y="2118248"/>
            <a:ext cx="1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>
            <a:stCxn id="89" idx="4"/>
            <a:endCxn id="95" idx="0"/>
          </p:cNvCxnSpPr>
          <p:nvPr/>
        </p:nvCxnSpPr>
        <p:spPr>
          <a:xfrm>
            <a:off x="3867195" y="2118248"/>
            <a:ext cx="312740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순서도: 수동 연산 146"/>
          <p:cNvSpPr/>
          <p:nvPr/>
        </p:nvSpPr>
        <p:spPr>
          <a:xfrm rot="16200000">
            <a:off x="9483248" y="3377225"/>
            <a:ext cx="1137474" cy="1010194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9" name="Picture 4" descr="Result Image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475297" y="5084641"/>
            <a:ext cx="765442" cy="49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/>
          <p:cNvSpPr txBox="1"/>
          <p:nvPr/>
        </p:nvSpPr>
        <p:spPr>
          <a:xfrm>
            <a:off x="7141516" y="53474"/>
            <a:ext cx="500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Decoder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대해서는 대부분 </a:t>
            </a:r>
            <a:r>
              <a:rPr lang="en-US" altLang="ko-KR" sz="1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ResNet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마지막 레이어를 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비트 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sigmoid FC layer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교체하여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비트 스트링을 반환하는 방법을 사용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0556" y="2954157"/>
            <a:ext cx="1039587" cy="272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Spatial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340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0" y="0"/>
          <a:ext cx="12191999" cy="68821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6963">
                  <a:extLst>
                    <a:ext uri="{9D8B030D-6E8A-4147-A177-3AD203B41FA5}">
                      <a16:colId xmlns:a16="http://schemas.microsoft.com/office/drawing/2014/main" val="755869430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44251459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957446686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3444850429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474429438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257433956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218430300"/>
                    </a:ext>
                  </a:extLst>
                </a:gridCol>
              </a:tblGrid>
              <a:tr h="210257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</a:t>
                      </a:r>
                      <a:r>
                        <a:rPr lang="ko-KR" altLang="en-US" sz="11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1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워터마킹</a:t>
                      </a:r>
                      <a:r>
                        <a:rPr lang="ko-KR" altLang="en-US" sz="11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논문</a:t>
                      </a:r>
                      <a:endParaRPr lang="ko-KR" alt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학습 데이터 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셋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워터마크 인코더 </a:t>
                      </a:r>
                      <a:endParaRPr lang="ko-KR" alt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노이즈</a:t>
                      </a:r>
                      <a:endParaRPr lang="ko-KR" alt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워터마크 </a:t>
                      </a:r>
                      <a:r>
                        <a:rPr lang="ko-KR" altLang="en-US" sz="11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디코더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특징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364202"/>
                  </a:ext>
                </a:extLst>
              </a:tr>
              <a:tr h="2238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백본</a:t>
                      </a:r>
                      <a:endParaRPr lang="ko-KR" alt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인코딩</a:t>
                      </a:r>
                      <a:r>
                        <a:rPr lang="en-US" altLang="ko-KR" sz="11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1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과정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70315"/>
                  </a:ext>
                </a:extLst>
              </a:tr>
              <a:tr h="5880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HiDDeN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n-US" altLang="ko-KR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ECCV18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MS-COCO 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VAE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구조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en-US" altLang="ko-KR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중간 </a:t>
                      </a:r>
                      <a:r>
                        <a:rPr lang="ko-KR" alt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피쳐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-[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메시지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피쳐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]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를 붙여서 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CNN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통과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-1x1Conv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복원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dropout, crop, </a:t>
                      </a:r>
                      <a:b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blur</a:t>
                      </a:r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jpeg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CNN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최초 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E2E </a:t>
                      </a:r>
                      <a:r>
                        <a:rPr lang="ko-KR" alt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딥워터마킹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665159879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RivaGan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(2019)</a:t>
                      </a:r>
                      <a:endParaRPr lang="en-US" altLang="ko-KR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Hollywood2 (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동영상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VAE</a:t>
                      </a:r>
                      <a:r>
                        <a:rPr lang="en-US" altLang="ko-KR" sz="900" b="1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b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구조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attention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비디오로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어텐션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마스크 생성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메시지와 마스크를 곱한 후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비디오에 </a:t>
                      </a:r>
                      <a:r>
                        <a:rPr lang="en-US" altLang="ko-KR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concat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하여 비디오로 복원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Scale, crop,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compression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CNN + attention pooling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-attention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 처리 가능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232213012"/>
                  </a:ext>
                </a:extLst>
              </a:tr>
              <a:tr h="7240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StegaStamp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n-US" altLang="ko-KR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CVPR2020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1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MIRFlickr</a:t>
                      </a: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DIV2K</a:t>
                      </a:r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MUNIT(</a:t>
                      </a:r>
                      <a:r>
                        <a:rPr 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UNet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구조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메시지와 이미지를 </a:t>
                      </a:r>
                      <a:r>
                        <a:rPr lang="en-US" altLang="ko-KR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concat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(400x400x6)</a:t>
                      </a: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-UNET 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통과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출력된 나머지를 원본과 더하여 완성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persepctive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warp, motion blur, defocus blur, color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manipulation, noise, jpeg </a:t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프린트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촬영 노이즈 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Spatial </a:t>
                      </a: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Transformer</a:t>
                      </a:r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촬영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프린트 노이즈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962532668"/>
                  </a:ext>
                </a:extLst>
              </a:tr>
              <a:tr h="5567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SSL</a:t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n-US" altLang="ko-KR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ICASSP2022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(Facebook)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YFCC100M, CLIC, COCO 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ResNet-50 </a:t>
                      </a:r>
                      <a:b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(DINO)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Gradient Descent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방식으로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각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step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마다 이미지 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수정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rotation, crop, resize, blur, jpeg, bright, contrast, hue, meme, screenshot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ResNet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자기지도학습 </a:t>
                      </a:r>
                      <a:r>
                        <a:rPr lang="ko-KR" alt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임베더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이용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해상도무관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속도 느림</a:t>
                      </a: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3364374332"/>
                  </a:ext>
                </a:extLst>
              </a:tr>
              <a:tr h="5880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RoSteALS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n-US" altLang="ko-KR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CVPR2023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1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MIRFlickr</a:t>
                      </a:r>
                      <a:r>
                        <a:rPr 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VQGAN 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Pretrained</a:t>
                      </a:r>
                      <a:r>
                        <a:rPr 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VAE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latent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 더할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latent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를 생성하는 인코더 학습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endParaRPr lang="en-US" altLang="ko-KR" sz="900" b="1" baseline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ko-KR" alt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재생성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ImageNet-C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ResNet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메시지 인코더와 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워터마크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디코더만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학습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품질이 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VAE</a:t>
                      </a:r>
                      <a:r>
                        <a:rPr lang="ko-KR" alt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 의존</a:t>
                      </a:r>
                      <a:endParaRPr lang="en-US" altLang="ko-KR" sz="900" b="1" baseline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특히 글씨 품질 낮음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3027405978"/>
                  </a:ext>
                </a:extLst>
              </a:tr>
              <a:tr h="6851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TrustMark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n-US" altLang="ko-KR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ICCV2025)</a:t>
                      </a:r>
                      <a: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(Adobe)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MIRFlickr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MUNIT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-fc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를 거친 메시지와 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</a:t>
                      </a:r>
                      <a:r>
                        <a:rPr lang="en-US" altLang="ko-KR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concat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(256x256x6)</a:t>
                      </a: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-UNET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통과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출력 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ImageNet-C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ResNet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해상도 무관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-1×1 </a:t>
                      </a:r>
                      <a:r>
                        <a:rPr lang="en-US" altLang="ko-KR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후처리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워터마크 제거 네트워크 추가 제안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해상도</a:t>
                      </a:r>
                      <a:r>
                        <a:rPr lang="ko-KR" alt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알고리즘 제안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306959436"/>
                  </a:ext>
                </a:extLst>
              </a:tr>
              <a:tr h="8600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InvisMark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n-US" altLang="ko-KR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WACV2025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(Microsoft)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DALLE(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미공개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DIV2K</a:t>
                      </a:r>
                      <a:b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MUNIT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-fc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를 거친 메시지와 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</a:t>
                      </a:r>
                      <a:r>
                        <a:rPr lang="en-US" altLang="ko-KR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concat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(256x256x6)</a:t>
                      </a: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-UNET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통과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출력된 나머지를 </a:t>
                      </a:r>
                      <a:r>
                        <a:rPr lang="ko-KR" altLang="en-US" sz="9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리사이즈</a:t>
                      </a:r>
                      <a:r>
                        <a:rPr lang="ko-KR" alt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후 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원본에 더하여 완성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-ImageNet-C</a:t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RandomResizedCrop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VIT /</a:t>
                      </a:r>
                      <a:r>
                        <a:rPr lang="en-US" sz="9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sz="900" b="1" baseline="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ResNet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해상도 무관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-AI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생성 고화질 이미지로 학습</a:t>
                      </a: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검증</a:t>
                      </a: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175344442"/>
                  </a:ext>
                </a:extLst>
              </a:tr>
              <a:tr h="6227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SpecGaurd</a:t>
                      </a: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(ICCV2025)</a:t>
                      </a:r>
                      <a:endParaRPr 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MS-COCO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Spectral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projection</a:t>
                      </a:r>
                      <a:b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 UNET(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코드 없음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메시지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FC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확장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이미지를 주파수영역으로 전환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고주파수영역에 메시지 삽입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en-US" altLang="ko-KR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Unet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으로 재구성 후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역변환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blur, artistic style transfer, super zoom, JPEG artifact reduction, and colorization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CNN + spectral projection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en-US" altLang="ko-KR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Unet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에서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spectral image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생성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코드없음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3562149966"/>
                  </a:ext>
                </a:extLst>
              </a:tr>
              <a:tr h="6227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Watermark</a:t>
                      </a:r>
                      <a:r>
                        <a:rPr lang="en-US" sz="11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Anything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(ICLR2025)</a:t>
                      </a:r>
                      <a:endParaRPr 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MS-COCO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(+segment mask)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VAE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Encoder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인코더로 이미지 압축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임베더로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메시지와 압축된 이미지 결합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후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원본에 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Add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랜덤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종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마스킹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-rotate, resize, crop, perspective, jpeg, </a:t>
                      </a:r>
                      <a:r>
                        <a:rPr 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crop_resize</a:t>
                      </a: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VAE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Decoder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-watermark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를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segmentation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으로 취급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영역 별 다중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워터마킹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가능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-payload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한계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615083036"/>
                  </a:ext>
                </a:extLst>
              </a:tr>
              <a:tr h="7192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Pixel</a:t>
                      </a:r>
                      <a:r>
                        <a:rPr lang="en-US" sz="11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seals</a:t>
                      </a:r>
                      <a:br>
                        <a:rPr lang="en-US" sz="11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1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(2025)</a:t>
                      </a:r>
                      <a:endParaRPr lang="en-US" sz="11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Segment Anything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셋 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Imagen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Efficient U-Net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-dx1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변환된 메시지를 각 픽셀에 맞게 </a:t>
                      </a:r>
                      <a:r>
                        <a:rPr lang="en-US" altLang="ko-KR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HxW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 복제 후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add</a:t>
                      </a: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최종 워터마크는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JND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를 곱한 후 원본에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더해짐</a:t>
                      </a:r>
                      <a:endParaRPr lang="en-US" altLang="ko-KR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cropping, resizing, and rotation,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brightness and contrast,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JPEG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ConvNext-V2</a:t>
                      </a:r>
                      <a:r>
                        <a:rPr 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endParaRPr 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-Adversary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loss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와 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Message loss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만 사용</a:t>
                      </a:r>
                      <a:endParaRPr lang="en-US" altLang="ko-KR" sz="900" b="1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JND-based attenuation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1261779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52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Box 7">
            <a:extLst>
              <a:ext uri="{FF2B5EF4-FFF2-40B4-BE49-F238E27FC236}">
                <a16:creationId xmlns:a16="http://schemas.microsoft.com/office/drawing/2014/main" id="{FC0FF26C-A4A2-47C9-A465-CE8259175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758" y="153903"/>
            <a:ext cx="5079178" cy="492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defTabSz="914186">
              <a:spcBef>
                <a:spcPts val="400"/>
              </a:spcBef>
            </a:pPr>
            <a:r>
              <a:rPr lang="en-US" altLang="ko-KR" sz="3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 Bold" panose="00000800000000000000" pitchFamily="2" charset="-127"/>
              </a:rPr>
              <a:t>II-2. </a:t>
            </a:r>
            <a:r>
              <a:rPr lang="ko-KR" altLang="en-US" sz="3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 Bold" panose="00000800000000000000" pitchFamily="2" charset="-127"/>
              </a:rPr>
              <a:t>그림 원본</a:t>
            </a:r>
            <a:endParaRPr lang="ko-KR" altLang="en-US" sz="3200" b="1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422E35-516F-4EDB-BD39-13C2FBD85933}"/>
              </a:ext>
            </a:extLst>
          </p:cNvPr>
          <p:cNvSpPr txBox="1"/>
          <p:nvPr/>
        </p:nvSpPr>
        <p:spPr>
          <a:xfrm>
            <a:off x="1307469" y="6567156"/>
            <a:ext cx="10775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86"/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HVS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Human Vision System,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DWT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OOOO</a:t>
            </a:r>
            <a:endParaRPr lang="ko-KR" altLang="en-US" sz="10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F9EF2FA9-C02D-4C26-B4B1-EEDFF310E5F8}"/>
              </a:ext>
            </a:extLst>
          </p:cNvPr>
          <p:cNvGrpSpPr/>
          <p:nvPr/>
        </p:nvGrpSpPr>
        <p:grpSpPr>
          <a:xfrm>
            <a:off x="6642948" y="3432510"/>
            <a:ext cx="2607841" cy="1935152"/>
            <a:chOff x="6130359" y="2208443"/>
            <a:chExt cx="3118888" cy="3351019"/>
          </a:xfrm>
        </p:grpSpPr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7413DD2A-390B-4996-BBCA-45AC46D262E5}"/>
                </a:ext>
              </a:extLst>
            </p:cNvPr>
            <p:cNvSpPr/>
            <p:nvPr/>
          </p:nvSpPr>
          <p:spPr>
            <a:xfrm>
              <a:off x="6150527" y="2208443"/>
              <a:ext cx="3098720" cy="3351019"/>
            </a:xfrm>
            <a:prstGeom prst="rect">
              <a:avLst/>
            </a:prstGeom>
            <a:noFill/>
            <a:ln w="34925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4D30901-F562-4AB4-9A7B-91CBF3EE5701}"/>
                </a:ext>
              </a:extLst>
            </p:cNvPr>
            <p:cNvSpPr txBox="1"/>
            <p:nvPr/>
          </p:nvSpPr>
          <p:spPr>
            <a:xfrm>
              <a:off x="6130359" y="2215216"/>
              <a:ext cx="1683034" cy="422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Temporal 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BC85F3A4-9A63-4110-A985-DC981920EF78}"/>
              </a:ext>
            </a:extLst>
          </p:cNvPr>
          <p:cNvGrpSpPr/>
          <p:nvPr/>
        </p:nvGrpSpPr>
        <p:grpSpPr>
          <a:xfrm>
            <a:off x="6968137" y="4207956"/>
            <a:ext cx="2281110" cy="1159705"/>
            <a:chOff x="6567471" y="2167370"/>
            <a:chExt cx="2681776" cy="3392092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230BD0DB-C931-4509-BCA8-2BA06DD6515B}"/>
                </a:ext>
              </a:extLst>
            </p:cNvPr>
            <p:cNvSpPr/>
            <p:nvPr/>
          </p:nvSpPr>
          <p:spPr>
            <a:xfrm>
              <a:off x="6567472" y="2208443"/>
              <a:ext cx="2681775" cy="3351019"/>
            </a:xfrm>
            <a:prstGeom prst="rect">
              <a:avLst/>
            </a:prstGeom>
            <a:noFill/>
            <a:ln w="34925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477E22C8-58EA-4EB0-9276-AB6D71F55807}"/>
                </a:ext>
              </a:extLst>
            </p:cNvPr>
            <p:cNvSpPr txBox="1"/>
            <p:nvPr/>
          </p:nvSpPr>
          <p:spPr>
            <a:xfrm>
              <a:off x="6567471" y="2167370"/>
              <a:ext cx="1222186" cy="798510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Spatial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25A7D3FC-FA46-4F55-9142-46C2713784F2}"/>
              </a:ext>
            </a:extLst>
          </p:cNvPr>
          <p:cNvSpPr txBox="1"/>
          <p:nvPr/>
        </p:nvSpPr>
        <p:spPr>
          <a:xfrm>
            <a:off x="5265222" y="1733764"/>
            <a:ext cx="103654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“01010110”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B6B2EED-2379-40B7-BC5E-76429AA80699}"/>
              </a:ext>
            </a:extLst>
          </p:cNvPr>
          <p:cNvSpPr txBox="1"/>
          <p:nvPr/>
        </p:nvSpPr>
        <p:spPr>
          <a:xfrm>
            <a:off x="4786929" y="1458690"/>
            <a:ext cx="1865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message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1E3BE78-FBA6-4781-B2A3-FDFA28C801DD}"/>
              </a:ext>
            </a:extLst>
          </p:cNvPr>
          <p:cNvSpPr txBox="1"/>
          <p:nvPr/>
        </p:nvSpPr>
        <p:spPr>
          <a:xfrm>
            <a:off x="947668" y="3604332"/>
            <a:ext cx="1507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Original Video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408C7CE-4B76-46D4-BF3C-3D59BA46A56C}"/>
              </a:ext>
            </a:extLst>
          </p:cNvPr>
          <p:cNvSpPr txBox="1"/>
          <p:nvPr/>
        </p:nvSpPr>
        <p:spPr>
          <a:xfrm>
            <a:off x="9976772" y="4630140"/>
            <a:ext cx="1983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Decoder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13816D6-F3C3-4C0A-A383-117BF13C4B89}"/>
              </a:ext>
            </a:extLst>
          </p:cNvPr>
          <p:cNvSpPr txBox="1"/>
          <p:nvPr/>
        </p:nvSpPr>
        <p:spPr>
          <a:xfrm>
            <a:off x="9418034" y="1730623"/>
            <a:ext cx="113155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“01010110”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E97ECC6-5771-4FA3-B692-907C21E8ED45}"/>
              </a:ext>
            </a:extLst>
          </p:cNvPr>
          <p:cNvSpPr txBox="1"/>
          <p:nvPr/>
        </p:nvSpPr>
        <p:spPr>
          <a:xfrm>
            <a:off x="8534269" y="1263491"/>
            <a:ext cx="273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Recovered</a:t>
            </a:r>
            <a:b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message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2" name="그래픽 201" descr="데이터베이스 단색으로 채워진">
            <a:extLst>
              <a:ext uri="{FF2B5EF4-FFF2-40B4-BE49-F238E27FC236}">
                <a16:creationId xmlns:a16="http://schemas.microsoft.com/office/drawing/2014/main" id="{097E623F-DC88-42B4-A16C-741662BFE7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4060" y="3449664"/>
            <a:ext cx="914400" cy="914400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F3AEE607-DC70-4C50-A9BF-E1EB0C4BF957}"/>
              </a:ext>
            </a:extLst>
          </p:cNvPr>
          <p:cNvSpPr txBox="1"/>
          <p:nvPr/>
        </p:nvSpPr>
        <p:spPr>
          <a:xfrm>
            <a:off x="-23174" y="4386780"/>
            <a:ext cx="87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Datasets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AD9568D-0BE2-42AE-A384-B3569E9899E4}"/>
              </a:ext>
            </a:extLst>
          </p:cNvPr>
          <p:cNvSpPr/>
          <p:nvPr/>
        </p:nvSpPr>
        <p:spPr>
          <a:xfrm>
            <a:off x="2673076" y="2917482"/>
            <a:ext cx="2511971" cy="1952399"/>
          </a:xfrm>
          <a:prstGeom prst="rect">
            <a:avLst/>
          </a:prstGeom>
          <a:noFill/>
          <a:ln w="349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350DCE0-D9D7-4385-98DA-E22A0071AB3B}"/>
              </a:ext>
            </a:extLst>
          </p:cNvPr>
          <p:cNvSpPr txBox="1"/>
          <p:nvPr/>
        </p:nvSpPr>
        <p:spPr>
          <a:xfrm>
            <a:off x="2680480" y="4861948"/>
            <a:ext cx="2511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Encoder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9732BA6A-D0D9-40B3-83B5-D2975405003C}"/>
              </a:ext>
            </a:extLst>
          </p:cNvPr>
          <p:cNvGrpSpPr/>
          <p:nvPr/>
        </p:nvGrpSpPr>
        <p:grpSpPr>
          <a:xfrm>
            <a:off x="2744062" y="3423898"/>
            <a:ext cx="2367810" cy="1142563"/>
            <a:chOff x="2007830" y="3319726"/>
            <a:chExt cx="2367810" cy="1142563"/>
          </a:xfrm>
        </p:grpSpPr>
        <p:sp>
          <p:nvSpPr>
            <p:cNvPr id="207" name="순서도: 수동 연산 206">
              <a:extLst>
                <a:ext uri="{FF2B5EF4-FFF2-40B4-BE49-F238E27FC236}">
                  <a16:creationId xmlns:a16="http://schemas.microsoft.com/office/drawing/2014/main" id="{0BAF8C33-8A5B-4869-BDE9-A7D24B40E536}"/>
                </a:ext>
              </a:extLst>
            </p:cNvPr>
            <p:cNvSpPr/>
            <p:nvPr/>
          </p:nvSpPr>
          <p:spPr>
            <a:xfrm rot="16200000">
              <a:off x="1944190" y="3388455"/>
              <a:ext cx="1137474" cy="1010194"/>
            </a:xfrm>
            <a:prstGeom prst="flowChartManualOperation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8" name="순서도: 수동 연산 207">
              <a:extLst>
                <a:ext uri="{FF2B5EF4-FFF2-40B4-BE49-F238E27FC236}">
                  <a16:creationId xmlns:a16="http://schemas.microsoft.com/office/drawing/2014/main" id="{38AF93BB-06DC-40B8-BCBD-B016F771F923}"/>
                </a:ext>
              </a:extLst>
            </p:cNvPr>
            <p:cNvSpPr/>
            <p:nvPr/>
          </p:nvSpPr>
          <p:spPr>
            <a:xfrm rot="5400000">
              <a:off x="3301806" y="3383366"/>
              <a:ext cx="1137474" cy="1010194"/>
            </a:xfrm>
            <a:prstGeom prst="flowChartManualOperation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02383E4D-2A37-45CD-9EA9-02FD2F4E8492}"/>
                </a:ext>
              </a:extLst>
            </p:cNvPr>
            <p:cNvSpPr/>
            <p:nvPr/>
          </p:nvSpPr>
          <p:spPr>
            <a:xfrm>
              <a:off x="3094106" y="3598986"/>
              <a:ext cx="174434" cy="57605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E8F1FE30-9126-45D6-AEB2-E865DCF47135}"/>
              </a:ext>
            </a:extLst>
          </p:cNvPr>
          <p:cNvCxnSpPr>
            <a:cxnSpLocks/>
            <a:stCxn id="202" idx="3"/>
            <a:endCxn id="204" idx="1"/>
          </p:cNvCxnSpPr>
          <p:nvPr/>
        </p:nvCxnSpPr>
        <p:spPr>
          <a:xfrm flipV="1">
            <a:off x="870340" y="3893682"/>
            <a:ext cx="1802736" cy="1318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1202FBA8-54B5-455D-99E6-77F3968F16F0}"/>
              </a:ext>
            </a:extLst>
          </p:cNvPr>
          <p:cNvSpPr txBox="1"/>
          <p:nvPr/>
        </p:nvSpPr>
        <p:spPr>
          <a:xfrm>
            <a:off x="5114915" y="3411924"/>
            <a:ext cx="1256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watermarked Video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46E44AD8-EA97-41F0-A5CA-78324F0D2755}"/>
              </a:ext>
            </a:extLst>
          </p:cNvPr>
          <p:cNvCxnSpPr>
            <a:cxnSpLocks/>
            <a:stCxn id="226" idx="2"/>
            <a:endCxn id="209" idx="0"/>
          </p:cNvCxnSpPr>
          <p:nvPr/>
        </p:nvCxnSpPr>
        <p:spPr>
          <a:xfrm>
            <a:off x="3913421" y="2325275"/>
            <a:ext cx="4134" cy="137788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A1F36C5A-0488-4180-B779-A6CEC4254834}"/>
              </a:ext>
            </a:extLst>
          </p:cNvPr>
          <p:cNvCxnSpPr>
            <a:cxnSpLocks/>
            <a:stCxn id="204" idx="3"/>
            <a:endCxn id="295" idx="1"/>
          </p:cNvCxnSpPr>
          <p:nvPr/>
        </p:nvCxnSpPr>
        <p:spPr>
          <a:xfrm>
            <a:off x="5185047" y="3893682"/>
            <a:ext cx="1121939" cy="35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F2D6163A-D189-4EAD-BB2E-641C52701161}"/>
              </a:ext>
            </a:extLst>
          </p:cNvPr>
          <p:cNvSpPr txBox="1"/>
          <p:nvPr/>
        </p:nvSpPr>
        <p:spPr>
          <a:xfrm>
            <a:off x="6555736" y="5377975"/>
            <a:ext cx="2511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Attack Module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E638D21D-CE64-42E4-9023-17FE2C53A7CA}"/>
              </a:ext>
            </a:extLst>
          </p:cNvPr>
          <p:cNvCxnSpPr>
            <a:stCxn id="295" idx="3"/>
            <a:endCxn id="222" idx="1"/>
          </p:cNvCxnSpPr>
          <p:nvPr/>
        </p:nvCxnSpPr>
        <p:spPr>
          <a:xfrm>
            <a:off x="9249245" y="3894036"/>
            <a:ext cx="1056716" cy="47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꺾인 연결선 100">
            <a:extLst>
              <a:ext uri="{FF2B5EF4-FFF2-40B4-BE49-F238E27FC236}">
                <a16:creationId xmlns:a16="http://schemas.microsoft.com/office/drawing/2014/main" id="{222CF88F-A178-4039-B758-D8587C0F2FE6}"/>
              </a:ext>
            </a:extLst>
          </p:cNvPr>
          <p:cNvCxnSpPr>
            <a:stCxn id="222" idx="3"/>
            <a:endCxn id="200" idx="3"/>
          </p:cNvCxnSpPr>
          <p:nvPr/>
        </p:nvCxnSpPr>
        <p:spPr>
          <a:xfrm flipH="1" flipV="1">
            <a:off x="10549592" y="1869123"/>
            <a:ext cx="1038943" cy="2025385"/>
          </a:xfrm>
          <a:prstGeom prst="bentConnector3">
            <a:avLst>
              <a:gd name="adj1" fmla="val -2200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F319F3F9-9513-4C7B-80C5-6A9D7DAFE6BD}"/>
              </a:ext>
            </a:extLst>
          </p:cNvPr>
          <p:cNvSpPr txBox="1"/>
          <p:nvPr/>
        </p:nvSpPr>
        <p:spPr>
          <a:xfrm>
            <a:off x="9175541" y="3418556"/>
            <a:ext cx="120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Attacked Video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18" name="꺾인 연결선 120">
            <a:extLst>
              <a:ext uri="{FF2B5EF4-FFF2-40B4-BE49-F238E27FC236}">
                <a16:creationId xmlns:a16="http://schemas.microsoft.com/office/drawing/2014/main" id="{CFA26CC6-D1AB-4B83-8093-B8D3C4C97D09}"/>
              </a:ext>
            </a:extLst>
          </p:cNvPr>
          <p:cNvCxnSpPr>
            <a:stCxn id="244" idx="2"/>
            <a:endCxn id="248" idx="2"/>
          </p:cNvCxnSpPr>
          <p:nvPr/>
        </p:nvCxnSpPr>
        <p:spPr>
          <a:xfrm rot="16200000" flipH="1">
            <a:off x="3734148" y="2393276"/>
            <a:ext cx="3681" cy="3987158"/>
          </a:xfrm>
          <a:prstGeom prst="bentConnector3">
            <a:avLst>
              <a:gd name="adj1" fmla="val 24215240"/>
            </a:avLst>
          </a:prstGeom>
          <a:ln w="31750">
            <a:solidFill>
              <a:srgbClr val="FF0000"/>
            </a:solidFill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꺾인 연결선 124">
            <a:extLst>
              <a:ext uri="{FF2B5EF4-FFF2-40B4-BE49-F238E27FC236}">
                <a16:creationId xmlns:a16="http://schemas.microsoft.com/office/drawing/2014/main" id="{3DEDA2E8-A6F3-4CF6-A6BF-B34B8F85A597}"/>
              </a:ext>
            </a:extLst>
          </p:cNvPr>
          <p:cNvCxnSpPr>
            <a:stCxn id="196" idx="3"/>
            <a:endCxn id="200" idx="1"/>
          </p:cNvCxnSpPr>
          <p:nvPr/>
        </p:nvCxnSpPr>
        <p:spPr>
          <a:xfrm flipV="1">
            <a:off x="6301763" y="1869123"/>
            <a:ext cx="3116271" cy="3141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7BB63C74-49C8-4B9D-875D-FF6D93171B44}"/>
              </a:ext>
            </a:extLst>
          </p:cNvPr>
          <p:cNvSpPr txBox="1"/>
          <p:nvPr/>
        </p:nvSpPr>
        <p:spPr>
          <a:xfrm>
            <a:off x="6342692" y="1586876"/>
            <a:ext cx="2986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Watermark Message Loss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FBF2D69-7D6B-4029-8044-01F53602D838}"/>
              </a:ext>
            </a:extLst>
          </p:cNvPr>
          <p:cNvSpPr txBox="1"/>
          <p:nvPr/>
        </p:nvSpPr>
        <p:spPr>
          <a:xfrm>
            <a:off x="2802927" y="5255989"/>
            <a:ext cx="1813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Reconstruction loss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298840D1-AD15-44C3-95F9-A68C95BFF444}"/>
              </a:ext>
            </a:extLst>
          </p:cNvPr>
          <p:cNvSpPr/>
          <p:nvPr/>
        </p:nvSpPr>
        <p:spPr>
          <a:xfrm>
            <a:off x="10305961" y="3181058"/>
            <a:ext cx="1282574" cy="1426899"/>
          </a:xfrm>
          <a:prstGeom prst="rect">
            <a:avLst/>
          </a:prstGeom>
          <a:noFill/>
          <a:ln w="349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DCB7922B-1D0C-4ECC-BBD1-8D5C7C4C61C0}"/>
              </a:ext>
            </a:extLst>
          </p:cNvPr>
          <p:cNvSpPr txBox="1"/>
          <p:nvPr/>
        </p:nvSpPr>
        <p:spPr>
          <a:xfrm>
            <a:off x="2955256" y="927698"/>
            <a:ext cx="186521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Message</a:t>
            </a:r>
            <a:b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embedding Module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24" name="꺾인 연결선 54">
            <a:extLst>
              <a:ext uri="{FF2B5EF4-FFF2-40B4-BE49-F238E27FC236}">
                <a16:creationId xmlns:a16="http://schemas.microsoft.com/office/drawing/2014/main" id="{FDC63B2B-B41C-405D-8B92-2018CAE61AF8}"/>
              </a:ext>
            </a:extLst>
          </p:cNvPr>
          <p:cNvCxnSpPr>
            <a:cxnSpLocks/>
            <a:stCxn id="196" idx="1"/>
            <a:endCxn id="226" idx="3"/>
          </p:cNvCxnSpPr>
          <p:nvPr/>
        </p:nvCxnSpPr>
        <p:spPr>
          <a:xfrm rot="10800000" flipV="1">
            <a:off x="4643500" y="1872263"/>
            <a:ext cx="621722" cy="2177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0107AA9F-69C4-4536-81BB-5CE90D8736E0}"/>
              </a:ext>
            </a:extLst>
          </p:cNvPr>
          <p:cNvSpPr/>
          <p:nvPr/>
        </p:nvSpPr>
        <p:spPr>
          <a:xfrm>
            <a:off x="3183342" y="1423606"/>
            <a:ext cx="1460158" cy="901669"/>
          </a:xfrm>
          <a:prstGeom prst="rect">
            <a:avLst/>
          </a:prstGeom>
          <a:noFill/>
          <a:ln w="349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7" name="순서도: 연결자 226">
            <a:extLst>
              <a:ext uri="{FF2B5EF4-FFF2-40B4-BE49-F238E27FC236}">
                <a16:creationId xmlns:a16="http://schemas.microsoft.com/office/drawing/2014/main" id="{9F95F0F2-93FB-44F3-B2BD-E4F58FD7003B}"/>
              </a:ext>
            </a:extLst>
          </p:cNvPr>
          <p:cNvSpPr/>
          <p:nvPr/>
        </p:nvSpPr>
        <p:spPr>
          <a:xfrm>
            <a:off x="3614759" y="1471705"/>
            <a:ext cx="249957" cy="266118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순서도: 연결자 227">
            <a:extLst>
              <a:ext uri="{FF2B5EF4-FFF2-40B4-BE49-F238E27FC236}">
                <a16:creationId xmlns:a16="http://schemas.microsoft.com/office/drawing/2014/main" id="{0651260A-7FEE-445E-8C12-B19AB9C49E27}"/>
              </a:ext>
            </a:extLst>
          </p:cNvPr>
          <p:cNvSpPr/>
          <p:nvPr/>
        </p:nvSpPr>
        <p:spPr>
          <a:xfrm>
            <a:off x="3927498" y="1471705"/>
            <a:ext cx="249957" cy="266118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순서도: 연결자 228">
            <a:extLst>
              <a:ext uri="{FF2B5EF4-FFF2-40B4-BE49-F238E27FC236}">
                <a16:creationId xmlns:a16="http://schemas.microsoft.com/office/drawing/2014/main" id="{D7D4DEDF-CE8C-45C1-971E-B67A7A46EDFE}"/>
              </a:ext>
            </a:extLst>
          </p:cNvPr>
          <p:cNvSpPr/>
          <p:nvPr/>
        </p:nvSpPr>
        <p:spPr>
          <a:xfrm>
            <a:off x="3313145" y="2020402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순서도: 연결자 229">
            <a:extLst>
              <a:ext uri="{FF2B5EF4-FFF2-40B4-BE49-F238E27FC236}">
                <a16:creationId xmlns:a16="http://schemas.microsoft.com/office/drawing/2014/main" id="{9C1C7A9E-F546-4DFF-A0A8-D62A83467A09}"/>
              </a:ext>
            </a:extLst>
          </p:cNvPr>
          <p:cNvSpPr/>
          <p:nvPr/>
        </p:nvSpPr>
        <p:spPr>
          <a:xfrm>
            <a:off x="3620322" y="2018341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순서도: 연결자 230">
            <a:extLst>
              <a:ext uri="{FF2B5EF4-FFF2-40B4-BE49-F238E27FC236}">
                <a16:creationId xmlns:a16="http://schemas.microsoft.com/office/drawing/2014/main" id="{7853F235-F5B1-4160-83CC-630A45487E72}"/>
              </a:ext>
            </a:extLst>
          </p:cNvPr>
          <p:cNvSpPr/>
          <p:nvPr/>
        </p:nvSpPr>
        <p:spPr>
          <a:xfrm>
            <a:off x="3927499" y="2016514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순서도: 연결자 231">
            <a:extLst>
              <a:ext uri="{FF2B5EF4-FFF2-40B4-BE49-F238E27FC236}">
                <a16:creationId xmlns:a16="http://schemas.microsoft.com/office/drawing/2014/main" id="{B3159A33-BDEE-4223-AB0D-577AE5DB3F92}"/>
              </a:ext>
            </a:extLst>
          </p:cNvPr>
          <p:cNvSpPr/>
          <p:nvPr/>
        </p:nvSpPr>
        <p:spPr>
          <a:xfrm>
            <a:off x="4240238" y="2016514"/>
            <a:ext cx="249957" cy="266118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6BEBEC59-8CB3-4903-9379-92A79CB65EB4}"/>
              </a:ext>
            </a:extLst>
          </p:cNvPr>
          <p:cNvCxnSpPr>
            <a:stCxn id="227" idx="4"/>
            <a:endCxn id="229" idx="0"/>
          </p:cNvCxnSpPr>
          <p:nvPr/>
        </p:nvCxnSpPr>
        <p:spPr>
          <a:xfrm flipH="1">
            <a:off x="3438124" y="1737823"/>
            <a:ext cx="301614" cy="282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740351D6-0AF0-4608-BECE-A98E9725566A}"/>
              </a:ext>
            </a:extLst>
          </p:cNvPr>
          <p:cNvCxnSpPr>
            <a:stCxn id="227" idx="4"/>
            <a:endCxn id="230" idx="0"/>
          </p:cNvCxnSpPr>
          <p:nvPr/>
        </p:nvCxnSpPr>
        <p:spPr>
          <a:xfrm>
            <a:off x="3739738" y="1737823"/>
            <a:ext cx="5563" cy="2805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C309A70D-DB5C-4C4C-A710-7FCA3F76CC71}"/>
              </a:ext>
            </a:extLst>
          </p:cNvPr>
          <p:cNvCxnSpPr>
            <a:stCxn id="227" idx="4"/>
            <a:endCxn id="231" idx="0"/>
          </p:cNvCxnSpPr>
          <p:nvPr/>
        </p:nvCxnSpPr>
        <p:spPr>
          <a:xfrm>
            <a:off x="3739738" y="1737823"/>
            <a:ext cx="312740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F96E2752-8482-417D-B7F4-1BE759AF8E49}"/>
              </a:ext>
            </a:extLst>
          </p:cNvPr>
          <p:cNvCxnSpPr>
            <a:stCxn id="227" idx="4"/>
            <a:endCxn id="232" idx="0"/>
          </p:cNvCxnSpPr>
          <p:nvPr/>
        </p:nvCxnSpPr>
        <p:spPr>
          <a:xfrm>
            <a:off x="3739738" y="1737823"/>
            <a:ext cx="625479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D8CBDACF-7BBA-4E42-BA94-C5D92EED5424}"/>
              </a:ext>
            </a:extLst>
          </p:cNvPr>
          <p:cNvCxnSpPr>
            <a:stCxn id="228" idx="4"/>
            <a:endCxn id="229" idx="0"/>
          </p:cNvCxnSpPr>
          <p:nvPr/>
        </p:nvCxnSpPr>
        <p:spPr>
          <a:xfrm flipH="1">
            <a:off x="3438124" y="1737823"/>
            <a:ext cx="614353" cy="282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연결선 237">
            <a:extLst>
              <a:ext uri="{FF2B5EF4-FFF2-40B4-BE49-F238E27FC236}">
                <a16:creationId xmlns:a16="http://schemas.microsoft.com/office/drawing/2014/main" id="{4063E916-3299-4C8D-96F8-840A971734DE}"/>
              </a:ext>
            </a:extLst>
          </p:cNvPr>
          <p:cNvCxnSpPr>
            <a:stCxn id="228" idx="4"/>
            <a:endCxn id="230" idx="0"/>
          </p:cNvCxnSpPr>
          <p:nvPr/>
        </p:nvCxnSpPr>
        <p:spPr>
          <a:xfrm flipH="1">
            <a:off x="3745301" y="1737823"/>
            <a:ext cx="307176" cy="2805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4DC4E19E-CCAA-4D22-98A6-80362F0ADDEA}"/>
              </a:ext>
            </a:extLst>
          </p:cNvPr>
          <p:cNvCxnSpPr>
            <a:stCxn id="228" idx="4"/>
            <a:endCxn id="231" idx="0"/>
          </p:cNvCxnSpPr>
          <p:nvPr/>
        </p:nvCxnSpPr>
        <p:spPr>
          <a:xfrm>
            <a:off x="4052477" y="1737823"/>
            <a:ext cx="1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8D72C40E-D93B-4FA4-9DB4-9A4FB6A5834F}"/>
              </a:ext>
            </a:extLst>
          </p:cNvPr>
          <p:cNvCxnSpPr>
            <a:stCxn id="228" idx="4"/>
            <a:endCxn id="232" idx="0"/>
          </p:cNvCxnSpPr>
          <p:nvPr/>
        </p:nvCxnSpPr>
        <p:spPr>
          <a:xfrm>
            <a:off x="4052477" y="1737823"/>
            <a:ext cx="312740" cy="278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순서도: 수동 연산 240">
            <a:extLst>
              <a:ext uri="{FF2B5EF4-FFF2-40B4-BE49-F238E27FC236}">
                <a16:creationId xmlns:a16="http://schemas.microsoft.com/office/drawing/2014/main" id="{0B9C189B-F93F-41A6-B59D-6778ACF2F402}"/>
              </a:ext>
            </a:extLst>
          </p:cNvPr>
          <p:cNvSpPr/>
          <p:nvPr/>
        </p:nvSpPr>
        <p:spPr>
          <a:xfrm rot="16200000">
            <a:off x="10368989" y="3354399"/>
            <a:ext cx="1137474" cy="1010194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0C306C63-3EC0-42B3-B7D5-48113B8BF831}"/>
              </a:ext>
            </a:extLst>
          </p:cNvPr>
          <p:cNvGrpSpPr/>
          <p:nvPr/>
        </p:nvGrpSpPr>
        <p:grpSpPr>
          <a:xfrm>
            <a:off x="1220726" y="4022165"/>
            <a:ext cx="1018182" cy="365224"/>
            <a:chOff x="718444" y="4068647"/>
            <a:chExt cx="1018182" cy="365224"/>
          </a:xfrm>
        </p:grpSpPr>
        <p:pic>
          <p:nvPicPr>
            <p:cNvPr id="243" name="Picture 4" descr="Result Image">
              <a:extLst>
                <a:ext uri="{FF2B5EF4-FFF2-40B4-BE49-F238E27FC236}">
                  <a16:creationId xmlns:a16="http://schemas.microsoft.com/office/drawing/2014/main" id="{8CF5C96B-E2CD-4F33-9608-B209FAFD2C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444" y="4068647"/>
              <a:ext cx="567237" cy="360263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4" name="Picture 4" descr="Result Image">
              <a:extLst>
                <a:ext uri="{FF2B5EF4-FFF2-40B4-BE49-F238E27FC236}">
                  <a16:creationId xmlns:a16="http://schemas.microsoft.com/office/drawing/2014/main" id="{543E52D5-C1D1-45C6-BDE6-AF30E645E2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508" y="4071234"/>
              <a:ext cx="567237" cy="360263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sp3d prstMaterial="powder"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5" name="Picture 4" descr="Result Image">
              <a:extLst>
                <a:ext uri="{FF2B5EF4-FFF2-40B4-BE49-F238E27FC236}">
                  <a16:creationId xmlns:a16="http://schemas.microsoft.com/office/drawing/2014/main" id="{5CBD1E57-E8DB-40BF-8FD2-438C0C126D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9390" y="4073607"/>
              <a:ext cx="567236" cy="360264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D35C31EA-0701-4AF4-A426-5D24D8FE0910}"/>
              </a:ext>
            </a:extLst>
          </p:cNvPr>
          <p:cNvGrpSpPr/>
          <p:nvPr/>
        </p:nvGrpSpPr>
        <p:grpSpPr>
          <a:xfrm>
            <a:off x="5207885" y="4025845"/>
            <a:ext cx="1018184" cy="365221"/>
            <a:chOff x="5785475" y="5350143"/>
            <a:chExt cx="1374173" cy="516588"/>
          </a:xfrm>
        </p:grpSpPr>
        <p:pic>
          <p:nvPicPr>
            <p:cNvPr id="247" name="Picture 4" descr="Result Image">
              <a:extLst>
                <a:ext uri="{FF2B5EF4-FFF2-40B4-BE49-F238E27FC236}">
                  <a16:creationId xmlns:a16="http://schemas.microsoft.com/office/drawing/2014/main" id="{D4C7AA77-A143-4D3F-9CD5-F327ED4A2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5475" y="5350143"/>
              <a:ext cx="765560" cy="509576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8" name="Picture 4" descr="Result Image">
              <a:extLst>
                <a:ext uri="{FF2B5EF4-FFF2-40B4-BE49-F238E27FC236}">
                  <a16:creationId xmlns:a16="http://schemas.microsoft.com/office/drawing/2014/main" id="{D05C39F1-DB8B-484A-BCC8-2626D69A8F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6774" y="5353802"/>
              <a:ext cx="765560" cy="509576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sp3d prstMaterial="powder"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9" name="Picture 4" descr="Result Image">
              <a:extLst>
                <a:ext uri="{FF2B5EF4-FFF2-40B4-BE49-F238E27FC236}">
                  <a16:creationId xmlns:a16="http://schemas.microsoft.com/office/drawing/2014/main" id="{CBEFADBD-57FE-4619-92B3-CB62BD71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4088" y="5357155"/>
              <a:ext cx="765560" cy="509576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98CD45D6-E96D-4FA5-8101-96DF40C2E07C}"/>
              </a:ext>
            </a:extLst>
          </p:cNvPr>
          <p:cNvGrpSpPr/>
          <p:nvPr/>
        </p:nvGrpSpPr>
        <p:grpSpPr>
          <a:xfrm>
            <a:off x="9249247" y="4022165"/>
            <a:ext cx="1018184" cy="365221"/>
            <a:chOff x="5785475" y="5350143"/>
            <a:chExt cx="1374173" cy="516588"/>
          </a:xfrm>
        </p:grpSpPr>
        <p:pic>
          <p:nvPicPr>
            <p:cNvPr id="251" name="Picture 4" descr="Result Image">
              <a:extLst>
                <a:ext uri="{FF2B5EF4-FFF2-40B4-BE49-F238E27FC236}">
                  <a16:creationId xmlns:a16="http://schemas.microsoft.com/office/drawing/2014/main" id="{6C6A9363-C348-4063-800B-D28A3F588C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5475" y="5350143"/>
              <a:ext cx="765560" cy="509576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2" name="Picture 4" descr="Result Image">
              <a:extLst>
                <a:ext uri="{FF2B5EF4-FFF2-40B4-BE49-F238E27FC236}">
                  <a16:creationId xmlns:a16="http://schemas.microsoft.com/office/drawing/2014/main" id="{DB18E83B-D7D0-491A-8D64-5B7536558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6774" y="5353802"/>
              <a:ext cx="765560" cy="509576"/>
            </a:xfrm>
            <a:prstGeom prst="rect">
              <a:avLst/>
            </a:prstGeom>
            <a:noFill/>
            <a:scene3d>
              <a:camera prst="isometricRightUp"/>
              <a:lightRig rig="sunset" dir="t"/>
            </a:scene3d>
            <a:sp3d prstMaterial="powder"/>
          </p:spPr>
        </p:pic>
        <p:pic>
          <p:nvPicPr>
            <p:cNvPr id="253" name="Picture 4" descr="Result Image">
              <a:extLst>
                <a:ext uri="{FF2B5EF4-FFF2-40B4-BE49-F238E27FC236}">
                  <a16:creationId xmlns:a16="http://schemas.microsoft.com/office/drawing/2014/main" id="{F505F14A-67F9-4E42-85BF-C6077B255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4088" y="5357155"/>
              <a:ext cx="765560" cy="509576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sp3d prstMaterial="clear"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AD987EE4-AC11-4BA7-859B-B4AA7FA44227}"/>
              </a:ext>
            </a:extLst>
          </p:cNvPr>
          <p:cNvGrpSpPr/>
          <p:nvPr/>
        </p:nvGrpSpPr>
        <p:grpSpPr>
          <a:xfrm>
            <a:off x="7559604" y="3570202"/>
            <a:ext cx="1591060" cy="686052"/>
            <a:chOff x="7627774" y="3529136"/>
            <a:chExt cx="1591060" cy="686052"/>
          </a:xfrm>
        </p:grpSpPr>
        <p:grpSp>
          <p:nvGrpSpPr>
            <p:cNvPr id="255" name="그룹 254">
              <a:extLst>
                <a:ext uri="{FF2B5EF4-FFF2-40B4-BE49-F238E27FC236}">
                  <a16:creationId xmlns:a16="http://schemas.microsoft.com/office/drawing/2014/main" id="{32948C4E-345D-4AE7-A136-C7F24223874F}"/>
                </a:ext>
              </a:extLst>
            </p:cNvPr>
            <p:cNvGrpSpPr/>
            <p:nvPr/>
          </p:nvGrpSpPr>
          <p:grpSpPr>
            <a:xfrm>
              <a:off x="7915908" y="3529136"/>
              <a:ext cx="1018184" cy="365221"/>
              <a:chOff x="5785475" y="5350143"/>
              <a:chExt cx="1374173" cy="516588"/>
            </a:xfrm>
          </p:grpSpPr>
          <p:pic>
            <p:nvPicPr>
              <p:cNvPr id="257" name="Picture 4" descr="Result Image">
                <a:extLst>
                  <a:ext uri="{FF2B5EF4-FFF2-40B4-BE49-F238E27FC236}">
                    <a16:creationId xmlns:a16="http://schemas.microsoft.com/office/drawing/2014/main" id="{5335E146-6620-499B-B1B4-51BFFA8EB7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85475" y="5350143"/>
                <a:ext cx="765560" cy="509576"/>
              </a:xfrm>
              <a:prstGeom prst="rect">
                <a:avLst/>
              </a:prstGeom>
              <a:noFill/>
              <a:scene3d>
                <a:camera prst="isometricRightUp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8" name="Picture 4" descr="Result Image">
                <a:extLst>
                  <a:ext uri="{FF2B5EF4-FFF2-40B4-BE49-F238E27FC236}">
                    <a16:creationId xmlns:a16="http://schemas.microsoft.com/office/drawing/2014/main" id="{7DA7EFA7-5A13-4CC0-AD48-8358EA49C1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06774" y="5353802"/>
                <a:ext cx="765560" cy="509576"/>
              </a:xfrm>
              <a:prstGeom prst="rect">
                <a:avLst/>
              </a:prstGeom>
              <a:noFill/>
              <a:scene3d>
                <a:camera prst="isometricRightUp"/>
                <a:lightRig rig="threePt" dir="t"/>
              </a:scene3d>
              <a:sp3d prstMaterial="clear"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9" name="Picture 4" descr="Result Image">
                <a:extLst>
                  <a:ext uri="{FF2B5EF4-FFF2-40B4-BE49-F238E27FC236}">
                    <a16:creationId xmlns:a16="http://schemas.microsoft.com/office/drawing/2014/main" id="{05C082EA-9B38-414B-AEC9-E51527B33A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94088" y="5357155"/>
                <a:ext cx="765560" cy="509576"/>
              </a:xfrm>
              <a:prstGeom prst="rect">
                <a:avLst/>
              </a:prstGeom>
              <a:noFill/>
              <a:scene3d>
                <a:camera prst="isometricRightUp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9CBF7F26-6170-4F8C-A96B-AD1433F0CD41}"/>
                </a:ext>
              </a:extLst>
            </p:cNvPr>
            <p:cNvSpPr txBox="1"/>
            <p:nvPr/>
          </p:nvSpPr>
          <p:spPr>
            <a:xfrm>
              <a:off x="7627774" y="3938189"/>
              <a:ext cx="1591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Frame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Drop〮Swap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4E404E13-D167-4F7F-B12E-435AAD5EDC72}"/>
              </a:ext>
            </a:extLst>
          </p:cNvPr>
          <p:cNvGrpSpPr/>
          <p:nvPr/>
        </p:nvGrpSpPr>
        <p:grpSpPr>
          <a:xfrm>
            <a:off x="4013024" y="2413627"/>
            <a:ext cx="494177" cy="444766"/>
            <a:chOff x="575866" y="1105686"/>
            <a:chExt cx="1440000" cy="1401344"/>
          </a:xfrm>
        </p:grpSpPr>
        <p:sp>
          <p:nvSpPr>
            <p:cNvPr id="261" name="정육면체 260">
              <a:extLst>
                <a:ext uri="{FF2B5EF4-FFF2-40B4-BE49-F238E27FC236}">
                  <a16:creationId xmlns:a16="http://schemas.microsoft.com/office/drawing/2014/main" id="{12E9A569-449E-4854-8321-8DDD1C841D01}"/>
                </a:ext>
              </a:extLst>
            </p:cNvPr>
            <p:cNvSpPr/>
            <p:nvPr/>
          </p:nvSpPr>
          <p:spPr>
            <a:xfrm>
              <a:off x="935866" y="178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2" name="정육면체 261">
              <a:extLst>
                <a:ext uri="{FF2B5EF4-FFF2-40B4-BE49-F238E27FC236}">
                  <a16:creationId xmlns:a16="http://schemas.microsoft.com/office/drawing/2014/main" id="{62AD167B-44D1-421F-9C80-B17E043C3D3D}"/>
                </a:ext>
              </a:extLst>
            </p:cNvPr>
            <p:cNvSpPr/>
            <p:nvPr/>
          </p:nvSpPr>
          <p:spPr>
            <a:xfrm>
              <a:off x="1295866" y="178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3" name="정육면체 262">
              <a:extLst>
                <a:ext uri="{FF2B5EF4-FFF2-40B4-BE49-F238E27FC236}">
                  <a16:creationId xmlns:a16="http://schemas.microsoft.com/office/drawing/2014/main" id="{67F13365-F3F4-46E8-B0BE-4D186CBB9294}"/>
                </a:ext>
              </a:extLst>
            </p:cNvPr>
            <p:cNvSpPr/>
            <p:nvPr/>
          </p:nvSpPr>
          <p:spPr>
            <a:xfrm>
              <a:off x="1655866" y="178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4" name="정육면체 263">
              <a:extLst>
                <a:ext uri="{FF2B5EF4-FFF2-40B4-BE49-F238E27FC236}">
                  <a16:creationId xmlns:a16="http://schemas.microsoft.com/office/drawing/2014/main" id="{F114472A-59E9-4363-9F6C-4CAC48C276D7}"/>
                </a:ext>
              </a:extLst>
            </p:cNvPr>
            <p:cNvSpPr/>
            <p:nvPr/>
          </p:nvSpPr>
          <p:spPr>
            <a:xfrm>
              <a:off x="755866" y="196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5" name="정육면체 264">
              <a:extLst>
                <a:ext uri="{FF2B5EF4-FFF2-40B4-BE49-F238E27FC236}">
                  <a16:creationId xmlns:a16="http://schemas.microsoft.com/office/drawing/2014/main" id="{45850E42-D785-4DA8-BA5E-2F1CD3CC1048}"/>
                </a:ext>
              </a:extLst>
            </p:cNvPr>
            <p:cNvSpPr/>
            <p:nvPr/>
          </p:nvSpPr>
          <p:spPr>
            <a:xfrm>
              <a:off x="1115866" y="196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6" name="정육면체 265">
              <a:extLst>
                <a:ext uri="{FF2B5EF4-FFF2-40B4-BE49-F238E27FC236}">
                  <a16:creationId xmlns:a16="http://schemas.microsoft.com/office/drawing/2014/main" id="{9BF6CA17-8BBC-4D4C-946E-FEC7A3FD47A2}"/>
                </a:ext>
              </a:extLst>
            </p:cNvPr>
            <p:cNvSpPr/>
            <p:nvPr/>
          </p:nvSpPr>
          <p:spPr>
            <a:xfrm>
              <a:off x="1475866" y="196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7" name="정육면체 266">
              <a:extLst>
                <a:ext uri="{FF2B5EF4-FFF2-40B4-BE49-F238E27FC236}">
                  <a16:creationId xmlns:a16="http://schemas.microsoft.com/office/drawing/2014/main" id="{EB9AA19A-879C-4E19-A0F2-FD93117440AE}"/>
                </a:ext>
              </a:extLst>
            </p:cNvPr>
            <p:cNvSpPr/>
            <p:nvPr/>
          </p:nvSpPr>
          <p:spPr>
            <a:xfrm>
              <a:off x="575866" y="214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8" name="정육면체 267">
              <a:extLst>
                <a:ext uri="{FF2B5EF4-FFF2-40B4-BE49-F238E27FC236}">
                  <a16:creationId xmlns:a16="http://schemas.microsoft.com/office/drawing/2014/main" id="{533C318F-1469-4DFD-BEAB-8885EF0D05CE}"/>
                </a:ext>
              </a:extLst>
            </p:cNvPr>
            <p:cNvSpPr/>
            <p:nvPr/>
          </p:nvSpPr>
          <p:spPr>
            <a:xfrm>
              <a:off x="935866" y="214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9" name="정육면체 268">
              <a:extLst>
                <a:ext uri="{FF2B5EF4-FFF2-40B4-BE49-F238E27FC236}">
                  <a16:creationId xmlns:a16="http://schemas.microsoft.com/office/drawing/2014/main" id="{6AFF08E3-84F1-4D1E-B508-0C1E0023CD07}"/>
                </a:ext>
              </a:extLst>
            </p:cNvPr>
            <p:cNvSpPr/>
            <p:nvPr/>
          </p:nvSpPr>
          <p:spPr>
            <a:xfrm>
              <a:off x="1295866" y="2147030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0" name="정육면체 269">
              <a:extLst>
                <a:ext uri="{FF2B5EF4-FFF2-40B4-BE49-F238E27FC236}">
                  <a16:creationId xmlns:a16="http://schemas.microsoft.com/office/drawing/2014/main" id="{34CAC51E-CD8C-4052-B105-FC029ED5DCB8}"/>
                </a:ext>
              </a:extLst>
            </p:cNvPr>
            <p:cNvSpPr/>
            <p:nvPr/>
          </p:nvSpPr>
          <p:spPr>
            <a:xfrm>
              <a:off x="935866" y="146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1" name="정육면체 270">
              <a:extLst>
                <a:ext uri="{FF2B5EF4-FFF2-40B4-BE49-F238E27FC236}">
                  <a16:creationId xmlns:a16="http://schemas.microsoft.com/office/drawing/2014/main" id="{E5A28C1F-7338-4149-8FBC-DFF77F41F126}"/>
                </a:ext>
              </a:extLst>
            </p:cNvPr>
            <p:cNvSpPr/>
            <p:nvPr/>
          </p:nvSpPr>
          <p:spPr>
            <a:xfrm>
              <a:off x="1295866" y="146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2" name="정육면체 271">
              <a:extLst>
                <a:ext uri="{FF2B5EF4-FFF2-40B4-BE49-F238E27FC236}">
                  <a16:creationId xmlns:a16="http://schemas.microsoft.com/office/drawing/2014/main" id="{3CA1F920-E1F8-4BC1-88B9-55DE5BA711F8}"/>
                </a:ext>
              </a:extLst>
            </p:cNvPr>
            <p:cNvSpPr/>
            <p:nvPr/>
          </p:nvSpPr>
          <p:spPr>
            <a:xfrm>
              <a:off x="1655866" y="146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3" name="정육면체 272">
              <a:extLst>
                <a:ext uri="{FF2B5EF4-FFF2-40B4-BE49-F238E27FC236}">
                  <a16:creationId xmlns:a16="http://schemas.microsoft.com/office/drawing/2014/main" id="{28D4FD20-32CC-404D-B1C7-00564D4EC6C8}"/>
                </a:ext>
              </a:extLst>
            </p:cNvPr>
            <p:cNvSpPr/>
            <p:nvPr/>
          </p:nvSpPr>
          <p:spPr>
            <a:xfrm>
              <a:off x="755866" y="164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4" name="정육면체 273">
              <a:extLst>
                <a:ext uri="{FF2B5EF4-FFF2-40B4-BE49-F238E27FC236}">
                  <a16:creationId xmlns:a16="http://schemas.microsoft.com/office/drawing/2014/main" id="{5172F1F3-AD4C-4ABC-A5CD-1EA739CB2043}"/>
                </a:ext>
              </a:extLst>
            </p:cNvPr>
            <p:cNvSpPr/>
            <p:nvPr/>
          </p:nvSpPr>
          <p:spPr>
            <a:xfrm>
              <a:off x="1115866" y="164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정육면체 274">
              <a:extLst>
                <a:ext uri="{FF2B5EF4-FFF2-40B4-BE49-F238E27FC236}">
                  <a16:creationId xmlns:a16="http://schemas.microsoft.com/office/drawing/2014/main" id="{9522ECF1-0D28-457B-85D9-55E07050B14E}"/>
                </a:ext>
              </a:extLst>
            </p:cNvPr>
            <p:cNvSpPr/>
            <p:nvPr/>
          </p:nvSpPr>
          <p:spPr>
            <a:xfrm>
              <a:off x="1475866" y="164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6" name="정육면체 275">
              <a:extLst>
                <a:ext uri="{FF2B5EF4-FFF2-40B4-BE49-F238E27FC236}">
                  <a16:creationId xmlns:a16="http://schemas.microsoft.com/office/drawing/2014/main" id="{C7A8DCAD-4C7A-407E-A50B-46E593085F59}"/>
                </a:ext>
              </a:extLst>
            </p:cNvPr>
            <p:cNvSpPr/>
            <p:nvPr/>
          </p:nvSpPr>
          <p:spPr>
            <a:xfrm>
              <a:off x="575866" y="182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7" name="정육면체 276">
              <a:extLst>
                <a:ext uri="{FF2B5EF4-FFF2-40B4-BE49-F238E27FC236}">
                  <a16:creationId xmlns:a16="http://schemas.microsoft.com/office/drawing/2014/main" id="{877BD4D8-8BA5-4B9A-97FD-38B14CEA82C6}"/>
                </a:ext>
              </a:extLst>
            </p:cNvPr>
            <p:cNvSpPr/>
            <p:nvPr/>
          </p:nvSpPr>
          <p:spPr>
            <a:xfrm>
              <a:off x="935866" y="182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정육면체 277">
              <a:extLst>
                <a:ext uri="{FF2B5EF4-FFF2-40B4-BE49-F238E27FC236}">
                  <a16:creationId xmlns:a16="http://schemas.microsoft.com/office/drawing/2014/main" id="{3E0D8E87-78FB-4F21-A9C4-1848A6DE5BED}"/>
                </a:ext>
              </a:extLst>
            </p:cNvPr>
            <p:cNvSpPr/>
            <p:nvPr/>
          </p:nvSpPr>
          <p:spPr>
            <a:xfrm>
              <a:off x="1295866" y="182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정육면체 278">
              <a:extLst>
                <a:ext uri="{FF2B5EF4-FFF2-40B4-BE49-F238E27FC236}">
                  <a16:creationId xmlns:a16="http://schemas.microsoft.com/office/drawing/2014/main" id="{D07EF3BE-3EC1-4C6B-9F7A-5AA597187853}"/>
                </a:ext>
              </a:extLst>
            </p:cNvPr>
            <p:cNvSpPr/>
            <p:nvPr/>
          </p:nvSpPr>
          <p:spPr>
            <a:xfrm>
              <a:off x="935866" y="110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정육면체 279">
              <a:extLst>
                <a:ext uri="{FF2B5EF4-FFF2-40B4-BE49-F238E27FC236}">
                  <a16:creationId xmlns:a16="http://schemas.microsoft.com/office/drawing/2014/main" id="{FFC41E43-B63B-44FC-A390-6DE3BD367059}"/>
                </a:ext>
              </a:extLst>
            </p:cNvPr>
            <p:cNvSpPr/>
            <p:nvPr/>
          </p:nvSpPr>
          <p:spPr>
            <a:xfrm>
              <a:off x="1295866" y="110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정육면체 280">
              <a:extLst>
                <a:ext uri="{FF2B5EF4-FFF2-40B4-BE49-F238E27FC236}">
                  <a16:creationId xmlns:a16="http://schemas.microsoft.com/office/drawing/2014/main" id="{35EC705A-A20C-40C0-BC49-6740DA72F294}"/>
                </a:ext>
              </a:extLst>
            </p:cNvPr>
            <p:cNvSpPr/>
            <p:nvPr/>
          </p:nvSpPr>
          <p:spPr>
            <a:xfrm>
              <a:off x="1655866" y="110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정육면체 281">
              <a:extLst>
                <a:ext uri="{FF2B5EF4-FFF2-40B4-BE49-F238E27FC236}">
                  <a16:creationId xmlns:a16="http://schemas.microsoft.com/office/drawing/2014/main" id="{0EE2D7CB-4E64-409F-8CDD-F57C341EDD4A}"/>
                </a:ext>
              </a:extLst>
            </p:cNvPr>
            <p:cNvSpPr/>
            <p:nvPr/>
          </p:nvSpPr>
          <p:spPr>
            <a:xfrm>
              <a:off x="755866" y="128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정육면체 282">
              <a:extLst>
                <a:ext uri="{FF2B5EF4-FFF2-40B4-BE49-F238E27FC236}">
                  <a16:creationId xmlns:a16="http://schemas.microsoft.com/office/drawing/2014/main" id="{06ED4859-EA6B-45AE-BB20-B0CC9338ED56}"/>
                </a:ext>
              </a:extLst>
            </p:cNvPr>
            <p:cNvSpPr/>
            <p:nvPr/>
          </p:nvSpPr>
          <p:spPr>
            <a:xfrm>
              <a:off x="1115866" y="128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4" name="정육면체 283">
              <a:extLst>
                <a:ext uri="{FF2B5EF4-FFF2-40B4-BE49-F238E27FC236}">
                  <a16:creationId xmlns:a16="http://schemas.microsoft.com/office/drawing/2014/main" id="{85B74D51-51E3-44C1-87C4-7FFDB952D2D0}"/>
                </a:ext>
              </a:extLst>
            </p:cNvPr>
            <p:cNvSpPr/>
            <p:nvPr/>
          </p:nvSpPr>
          <p:spPr>
            <a:xfrm>
              <a:off x="1475866" y="128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5" name="정육면체 284">
              <a:extLst>
                <a:ext uri="{FF2B5EF4-FFF2-40B4-BE49-F238E27FC236}">
                  <a16:creationId xmlns:a16="http://schemas.microsoft.com/office/drawing/2014/main" id="{EB91C835-49A3-4ACB-BFE1-14EC8331900F}"/>
                </a:ext>
              </a:extLst>
            </p:cNvPr>
            <p:cNvSpPr/>
            <p:nvPr/>
          </p:nvSpPr>
          <p:spPr>
            <a:xfrm>
              <a:off x="575866" y="146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정육면체 285">
              <a:extLst>
                <a:ext uri="{FF2B5EF4-FFF2-40B4-BE49-F238E27FC236}">
                  <a16:creationId xmlns:a16="http://schemas.microsoft.com/office/drawing/2014/main" id="{C55A04DE-C260-439F-8808-8BA90424B36C}"/>
                </a:ext>
              </a:extLst>
            </p:cNvPr>
            <p:cNvSpPr/>
            <p:nvPr/>
          </p:nvSpPr>
          <p:spPr>
            <a:xfrm>
              <a:off x="935866" y="146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7" name="정육면체 286">
              <a:extLst>
                <a:ext uri="{FF2B5EF4-FFF2-40B4-BE49-F238E27FC236}">
                  <a16:creationId xmlns:a16="http://schemas.microsoft.com/office/drawing/2014/main" id="{7E36C225-E8EC-44AD-ACC8-EE6ABE82234D}"/>
                </a:ext>
              </a:extLst>
            </p:cNvPr>
            <p:cNvSpPr/>
            <p:nvPr/>
          </p:nvSpPr>
          <p:spPr>
            <a:xfrm>
              <a:off x="1295866" y="1465686"/>
              <a:ext cx="360000" cy="3600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8" name="TextBox 287">
            <a:extLst>
              <a:ext uri="{FF2B5EF4-FFF2-40B4-BE49-F238E27FC236}">
                <a16:creationId xmlns:a16="http://schemas.microsoft.com/office/drawing/2014/main" id="{2FB217F9-0F43-42BD-8837-EF16B9E60595}"/>
              </a:ext>
            </a:extLst>
          </p:cNvPr>
          <p:cNvSpPr txBox="1"/>
          <p:nvPr/>
        </p:nvSpPr>
        <p:spPr>
          <a:xfrm>
            <a:off x="4452231" y="2377661"/>
            <a:ext cx="1086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Message</a:t>
            </a:r>
            <a:b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Embedding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4BA42AF9-4697-412D-8EF1-887CDCE2C3FC}"/>
              </a:ext>
            </a:extLst>
          </p:cNvPr>
          <p:cNvGrpSpPr/>
          <p:nvPr/>
        </p:nvGrpSpPr>
        <p:grpSpPr>
          <a:xfrm>
            <a:off x="309532" y="958794"/>
            <a:ext cx="1593640" cy="1358492"/>
            <a:chOff x="-164391" y="577745"/>
            <a:chExt cx="2071272" cy="1756971"/>
          </a:xfrm>
        </p:grpSpPr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C2568376-B8E4-4699-8350-7B5E3006DADC}"/>
                </a:ext>
              </a:extLst>
            </p:cNvPr>
            <p:cNvSpPr/>
            <p:nvPr/>
          </p:nvSpPr>
          <p:spPr>
            <a:xfrm>
              <a:off x="-57345" y="1178898"/>
              <a:ext cx="1891755" cy="1155818"/>
            </a:xfrm>
            <a:prstGeom prst="rect">
              <a:avLst/>
            </a:prstGeom>
            <a:noFill/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6A98E939-2372-47B4-B209-9C56BD99790F}"/>
                </a:ext>
              </a:extLst>
            </p:cNvPr>
            <p:cNvSpPr txBox="1"/>
            <p:nvPr/>
          </p:nvSpPr>
          <p:spPr>
            <a:xfrm>
              <a:off x="-164391" y="577745"/>
              <a:ext cx="2071272" cy="5970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Temporal/Spatial</a:t>
              </a:r>
            </a:p>
            <a:p>
              <a:pPr algn="ctr"/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특성 분석 모듈</a:t>
              </a:r>
            </a:p>
          </p:txBody>
        </p:sp>
      </p:grpSp>
      <p:cxnSp>
        <p:nvCxnSpPr>
          <p:cNvPr id="292" name="꺾인 연결선 244">
            <a:extLst>
              <a:ext uri="{FF2B5EF4-FFF2-40B4-BE49-F238E27FC236}">
                <a16:creationId xmlns:a16="http://schemas.microsoft.com/office/drawing/2014/main" id="{1A51BF44-7173-4D76-9680-6A6C21725400}"/>
              </a:ext>
            </a:extLst>
          </p:cNvPr>
          <p:cNvCxnSpPr>
            <a:cxnSpLocks/>
            <a:stCxn id="290" idx="3"/>
          </p:cNvCxnSpPr>
          <p:nvPr/>
        </p:nvCxnSpPr>
        <p:spPr>
          <a:xfrm>
            <a:off x="1847412" y="1870446"/>
            <a:ext cx="1209402" cy="1635422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5CEF6520-94DE-454B-8E27-96BC1009F0B2}"/>
              </a:ext>
            </a:extLst>
          </p:cNvPr>
          <p:cNvGrpSpPr/>
          <p:nvPr/>
        </p:nvGrpSpPr>
        <p:grpSpPr>
          <a:xfrm>
            <a:off x="6306986" y="2420409"/>
            <a:ext cx="2942258" cy="2947253"/>
            <a:chOff x="6150527" y="2208443"/>
            <a:chExt cx="3098720" cy="3351019"/>
          </a:xfrm>
        </p:grpSpPr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6AE770D3-57AB-424E-AF07-50B064ADA969}"/>
                </a:ext>
              </a:extLst>
            </p:cNvPr>
            <p:cNvSpPr txBox="1"/>
            <p:nvPr/>
          </p:nvSpPr>
          <p:spPr>
            <a:xfrm>
              <a:off x="6615692" y="2213728"/>
              <a:ext cx="1442485" cy="3401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Video Encoding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4DE84FA2-F09B-42FB-A508-14A855F1E2FE}"/>
                </a:ext>
              </a:extLst>
            </p:cNvPr>
            <p:cNvSpPr/>
            <p:nvPr/>
          </p:nvSpPr>
          <p:spPr>
            <a:xfrm>
              <a:off x="6150527" y="2208443"/>
              <a:ext cx="3098720" cy="3351019"/>
            </a:xfrm>
            <a:prstGeom prst="rect">
              <a:avLst/>
            </a:prstGeom>
            <a:noFill/>
            <a:ln w="349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2906E786-75F4-4534-B1FF-52977E7C1871}"/>
              </a:ext>
            </a:extLst>
          </p:cNvPr>
          <p:cNvGrpSpPr/>
          <p:nvPr/>
        </p:nvGrpSpPr>
        <p:grpSpPr>
          <a:xfrm>
            <a:off x="6809264" y="4503543"/>
            <a:ext cx="1390990" cy="701860"/>
            <a:chOff x="7947684" y="4860845"/>
            <a:chExt cx="1390990" cy="701860"/>
          </a:xfrm>
        </p:grpSpPr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B44F41DD-9BD6-499D-A215-406636CE32A8}"/>
                </a:ext>
              </a:extLst>
            </p:cNvPr>
            <p:cNvSpPr txBox="1"/>
            <p:nvPr/>
          </p:nvSpPr>
          <p:spPr>
            <a:xfrm>
              <a:off x="7947684" y="5285706"/>
              <a:ext cx="13909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Black border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2D17396B-7AF5-4358-BF7F-3A940C45301F}"/>
                </a:ext>
              </a:extLst>
            </p:cNvPr>
            <p:cNvGrpSpPr/>
            <p:nvPr/>
          </p:nvGrpSpPr>
          <p:grpSpPr>
            <a:xfrm>
              <a:off x="8279936" y="4860845"/>
              <a:ext cx="711614" cy="463227"/>
              <a:chOff x="8254041" y="4814076"/>
              <a:chExt cx="711614" cy="463227"/>
            </a:xfrm>
          </p:grpSpPr>
          <p:sp>
            <p:nvSpPr>
              <p:cNvPr id="299" name="직사각형 298">
                <a:extLst>
                  <a:ext uri="{FF2B5EF4-FFF2-40B4-BE49-F238E27FC236}">
                    <a16:creationId xmlns:a16="http://schemas.microsoft.com/office/drawing/2014/main" id="{31866B0C-CBB1-4F6F-8086-0D75DF56FCF0}"/>
                  </a:ext>
                </a:extLst>
              </p:cNvPr>
              <p:cNvSpPr/>
              <p:nvPr/>
            </p:nvSpPr>
            <p:spPr>
              <a:xfrm>
                <a:off x="8254041" y="4814076"/>
                <a:ext cx="711614" cy="46322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00" name="Picture 4" descr="Result Image">
                <a:extLst>
                  <a:ext uri="{FF2B5EF4-FFF2-40B4-BE49-F238E27FC236}">
                    <a16:creationId xmlns:a16="http://schemas.microsoft.com/office/drawing/2014/main" id="{3BBD04B5-E5A3-44A0-98BA-849AB6CAB9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1723" y="4869881"/>
                <a:ext cx="567236" cy="3602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1C0DF85C-4688-4344-A08D-C6D1A8FB8FF6}"/>
              </a:ext>
            </a:extLst>
          </p:cNvPr>
          <p:cNvGrpSpPr/>
          <p:nvPr/>
        </p:nvGrpSpPr>
        <p:grpSpPr>
          <a:xfrm>
            <a:off x="7806604" y="4565910"/>
            <a:ext cx="1522992" cy="801720"/>
            <a:chOff x="7947868" y="4306051"/>
            <a:chExt cx="1522992" cy="801720"/>
          </a:xfrm>
        </p:grpSpPr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B48242FC-4A94-4053-8B7A-762AF723EED9}"/>
                </a:ext>
              </a:extLst>
            </p:cNvPr>
            <p:cNvSpPr txBox="1"/>
            <p:nvPr/>
          </p:nvSpPr>
          <p:spPr>
            <a:xfrm>
              <a:off x="7947868" y="4830772"/>
              <a:ext cx="1522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Picture in Picture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D2C580DC-8CA8-4A2B-87A8-7820AA69CC6F}"/>
                </a:ext>
              </a:extLst>
            </p:cNvPr>
            <p:cNvGrpSpPr/>
            <p:nvPr/>
          </p:nvGrpSpPr>
          <p:grpSpPr>
            <a:xfrm>
              <a:off x="8254561" y="4306051"/>
              <a:ext cx="866743" cy="550487"/>
              <a:chOff x="8042479" y="4701030"/>
              <a:chExt cx="866743" cy="550487"/>
            </a:xfrm>
          </p:grpSpPr>
          <p:pic>
            <p:nvPicPr>
              <p:cNvPr id="304" name="Picture 4" descr="Result Image">
                <a:extLst>
                  <a:ext uri="{FF2B5EF4-FFF2-40B4-BE49-F238E27FC236}">
                    <a16:creationId xmlns:a16="http://schemas.microsoft.com/office/drawing/2014/main" id="{F2396F9C-BE53-4330-85BA-9C12427F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2479" y="4701030"/>
                <a:ext cx="866743" cy="55048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5" name="그림 304">
                <a:extLst>
                  <a:ext uri="{FF2B5EF4-FFF2-40B4-BE49-F238E27FC236}">
                    <a16:creationId xmlns:a16="http://schemas.microsoft.com/office/drawing/2014/main" id="{4DCE59A6-3F4C-42D0-B3D1-719CAC8F22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55602" y="4941863"/>
                <a:ext cx="381939" cy="286455"/>
              </a:xfrm>
              <a:prstGeom prst="rect">
                <a:avLst/>
              </a:prstGeom>
            </p:spPr>
          </p:pic>
        </p:grpSp>
      </p:grpSp>
      <p:pic>
        <p:nvPicPr>
          <p:cNvPr id="306" name="Picture 2" descr="파일:H.264, MPEG-4 AVC logo.svg">
            <a:extLst>
              <a:ext uri="{FF2B5EF4-FFF2-40B4-BE49-F238E27FC236}">
                <a16:creationId xmlns:a16="http://schemas.microsoft.com/office/drawing/2014/main" id="{30C67F36-3D7B-4752-8398-9F5552808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823" y="2706928"/>
            <a:ext cx="582909" cy="43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7" name="직선 화살표 연결선 306">
            <a:extLst>
              <a:ext uri="{FF2B5EF4-FFF2-40B4-BE49-F238E27FC236}">
                <a16:creationId xmlns:a16="http://schemas.microsoft.com/office/drawing/2014/main" id="{94498810-1811-403D-AEDA-07AD7D0049BB}"/>
              </a:ext>
            </a:extLst>
          </p:cNvPr>
          <p:cNvCxnSpPr>
            <a:cxnSpLocks/>
          </p:cNvCxnSpPr>
          <p:nvPr/>
        </p:nvCxnSpPr>
        <p:spPr>
          <a:xfrm flipV="1">
            <a:off x="1449487" y="2332458"/>
            <a:ext cx="3936" cy="12868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꺾인 연결선 244">
            <a:extLst>
              <a:ext uri="{FF2B5EF4-FFF2-40B4-BE49-F238E27FC236}">
                <a16:creationId xmlns:a16="http://schemas.microsoft.com/office/drawing/2014/main" id="{D78A6616-060C-4564-BC50-8684D06D56EC}"/>
              </a:ext>
            </a:extLst>
          </p:cNvPr>
          <p:cNvCxnSpPr>
            <a:cxnSpLocks/>
            <a:stCxn id="226" idx="2"/>
            <a:endCxn id="207" idx="3"/>
          </p:cNvCxnSpPr>
          <p:nvPr/>
        </p:nvCxnSpPr>
        <p:spPr>
          <a:xfrm rot="5400000">
            <a:off x="2972561" y="2601873"/>
            <a:ext cx="1217459" cy="664262"/>
          </a:xfrm>
          <a:prstGeom prst="bentConnector3">
            <a:avLst>
              <a:gd name="adj1" fmla="val 74386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44D5931E-C6E5-41FF-AD30-C148A401F4F2}"/>
              </a:ext>
            </a:extLst>
          </p:cNvPr>
          <p:cNvGrpSpPr/>
          <p:nvPr/>
        </p:nvGrpSpPr>
        <p:grpSpPr>
          <a:xfrm>
            <a:off x="4748253" y="5436916"/>
            <a:ext cx="1894263" cy="981395"/>
            <a:chOff x="-143981" y="1433047"/>
            <a:chExt cx="2461995" cy="1269262"/>
          </a:xfrm>
        </p:grpSpPr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220D8F31-FD81-4386-A105-2CB275A9982B}"/>
                </a:ext>
              </a:extLst>
            </p:cNvPr>
            <p:cNvGrpSpPr/>
            <p:nvPr/>
          </p:nvGrpSpPr>
          <p:grpSpPr>
            <a:xfrm>
              <a:off x="374251" y="1433047"/>
              <a:ext cx="1460158" cy="901669"/>
              <a:chOff x="394509" y="1403120"/>
              <a:chExt cx="1460158" cy="901669"/>
            </a:xfrm>
          </p:grpSpPr>
          <p:sp>
            <p:nvSpPr>
              <p:cNvPr id="312" name="직사각형 311">
                <a:extLst>
                  <a:ext uri="{FF2B5EF4-FFF2-40B4-BE49-F238E27FC236}">
                    <a16:creationId xmlns:a16="http://schemas.microsoft.com/office/drawing/2014/main" id="{C4E40401-463C-4480-ABC0-ECA3659BAF8E}"/>
                  </a:ext>
                </a:extLst>
              </p:cNvPr>
              <p:cNvSpPr/>
              <p:nvPr/>
            </p:nvSpPr>
            <p:spPr>
              <a:xfrm>
                <a:off x="394509" y="1403120"/>
                <a:ext cx="1460158" cy="901669"/>
              </a:xfrm>
              <a:prstGeom prst="rect">
                <a:avLst/>
              </a:prstGeom>
              <a:noFill/>
              <a:ln w="3492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13" name="순서도: 연결자 312">
                <a:extLst>
                  <a:ext uri="{FF2B5EF4-FFF2-40B4-BE49-F238E27FC236}">
                    <a16:creationId xmlns:a16="http://schemas.microsoft.com/office/drawing/2014/main" id="{AA194200-0149-48F9-9117-35303BC7EA77}"/>
                  </a:ext>
                </a:extLst>
              </p:cNvPr>
              <p:cNvSpPr/>
              <p:nvPr/>
            </p:nvSpPr>
            <p:spPr>
              <a:xfrm>
                <a:off x="825926" y="1451219"/>
                <a:ext cx="249957" cy="266118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" name="순서도: 연결자 313">
                <a:extLst>
                  <a:ext uri="{FF2B5EF4-FFF2-40B4-BE49-F238E27FC236}">
                    <a16:creationId xmlns:a16="http://schemas.microsoft.com/office/drawing/2014/main" id="{37C43EC0-5FED-421B-9CF7-505BB1C75B03}"/>
                  </a:ext>
                </a:extLst>
              </p:cNvPr>
              <p:cNvSpPr/>
              <p:nvPr/>
            </p:nvSpPr>
            <p:spPr>
              <a:xfrm>
                <a:off x="1138665" y="1451219"/>
                <a:ext cx="249957" cy="266118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" name="순서도: 연결자 314">
                <a:extLst>
                  <a:ext uri="{FF2B5EF4-FFF2-40B4-BE49-F238E27FC236}">
                    <a16:creationId xmlns:a16="http://schemas.microsoft.com/office/drawing/2014/main" id="{28584837-6361-4ED9-A04F-A294AF06120C}"/>
                  </a:ext>
                </a:extLst>
              </p:cNvPr>
              <p:cNvSpPr/>
              <p:nvPr/>
            </p:nvSpPr>
            <p:spPr>
              <a:xfrm>
                <a:off x="524312" y="1999916"/>
                <a:ext cx="249957" cy="266118"/>
              </a:xfrm>
              <a:prstGeom prst="flowChartConnector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" name="순서도: 연결자 315">
                <a:extLst>
                  <a:ext uri="{FF2B5EF4-FFF2-40B4-BE49-F238E27FC236}">
                    <a16:creationId xmlns:a16="http://schemas.microsoft.com/office/drawing/2014/main" id="{D5FF0ED2-31DD-494E-825C-19EB1C2A1B5B}"/>
                  </a:ext>
                </a:extLst>
              </p:cNvPr>
              <p:cNvSpPr/>
              <p:nvPr/>
            </p:nvSpPr>
            <p:spPr>
              <a:xfrm>
                <a:off x="831489" y="1997855"/>
                <a:ext cx="249957" cy="266118"/>
              </a:xfrm>
              <a:prstGeom prst="flowChartConnector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" name="순서도: 연결자 316">
                <a:extLst>
                  <a:ext uri="{FF2B5EF4-FFF2-40B4-BE49-F238E27FC236}">
                    <a16:creationId xmlns:a16="http://schemas.microsoft.com/office/drawing/2014/main" id="{CEEC1E4B-6A61-4B9D-8355-7F4A70C37C0E}"/>
                  </a:ext>
                </a:extLst>
              </p:cNvPr>
              <p:cNvSpPr/>
              <p:nvPr/>
            </p:nvSpPr>
            <p:spPr>
              <a:xfrm>
                <a:off x="1138666" y="1996028"/>
                <a:ext cx="249957" cy="266118"/>
              </a:xfrm>
              <a:prstGeom prst="flowChartConnector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순서도: 연결자 317">
                <a:extLst>
                  <a:ext uri="{FF2B5EF4-FFF2-40B4-BE49-F238E27FC236}">
                    <a16:creationId xmlns:a16="http://schemas.microsoft.com/office/drawing/2014/main" id="{12749381-0F38-43F2-82F8-E04DD682861E}"/>
                  </a:ext>
                </a:extLst>
              </p:cNvPr>
              <p:cNvSpPr/>
              <p:nvPr/>
            </p:nvSpPr>
            <p:spPr>
              <a:xfrm>
                <a:off x="1451405" y="1996028"/>
                <a:ext cx="249957" cy="266118"/>
              </a:xfrm>
              <a:prstGeom prst="flowChartConnector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19" name="직선 연결선 318">
                <a:extLst>
                  <a:ext uri="{FF2B5EF4-FFF2-40B4-BE49-F238E27FC236}">
                    <a16:creationId xmlns:a16="http://schemas.microsoft.com/office/drawing/2014/main" id="{5B1E2F61-9E2F-4DF6-9C67-F18E819D1381}"/>
                  </a:ext>
                </a:extLst>
              </p:cNvPr>
              <p:cNvCxnSpPr>
                <a:stCxn id="313" idx="4"/>
                <a:endCxn id="315" idx="0"/>
              </p:cNvCxnSpPr>
              <p:nvPr/>
            </p:nvCxnSpPr>
            <p:spPr>
              <a:xfrm flipH="1">
                <a:off x="649291" y="1717337"/>
                <a:ext cx="301614" cy="28257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직선 연결선 319">
                <a:extLst>
                  <a:ext uri="{FF2B5EF4-FFF2-40B4-BE49-F238E27FC236}">
                    <a16:creationId xmlns:a16="http://schemas.microsoft.com/office/drawing/2014/main" id="{F0943B72-DFDC-450E-9379-4FE1D2FF2A63}"/>
                  </a:ext>
                </a:extLst>
              </p:cNvPr>
              <p:cNvCxnSpPr>
                <a:stCxn id="313" idx="4"/>
                <a:endCxn id="316" idx="0"/>
              </p:cNvCxnSpPr>
              <p:nvPr/>
            </p:nvCxnSpPr>
            <p:spPr>
              <a:xfrm>
                <a:off x="950905" y="1717337"/>
                <a:ext cx="5563" cy="28051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직선 연결선 320">
                <a:extLst>
                  <a:ext uri="{FF2B5EF4-FFF2-40B4-BE49-F238E27FC236}">
                    <a16:creationId xmlns:a16="http://schemas.microsoft.com/office/drawing/2014/main" id="{314F7C49-8326-41C0-9C52-E9A1C5C9711F}"/>
                  </a:ext>
                </a:extLst>
              </p:cNvPr>
              <p:cNvCxnSpPr>
                <a:stCxn id="313" idx="4"/>
                <a:endCxn id="317" idx="0"/>
              </p:cNvCxnSpPr>
              <p:nvPr/>
            </p:nvCxnSpPr>
            <p:spPr>
              <a:xfrm>
                <a:off x="950905" y="1717337"/>
                <a:ext cx="312740" cy="2786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직선 연결선 321">
                <a:extLst>
                  <a:ext uri="{FF2B5EF4-FFF2-40B4-BE49-F238E27FC236}">
                    <a16:creationId xmlns:a16="http://schemas.microsoft.com/office/drawing/2014/main" id="{7ACA0B06-6F7C-4DE2-B979-9CC95417384A}"/>
                  </a:ext>
                </a:extLst>
              </p:cNvPr>
              <p:cNvCxnSpPr>
                <a:stCxn id="313" idx="4"/>
                <a:endCxn id="318" idx="0"/>
              </p:cNvCxnSpPr>
              <p:nvPr/>
            </p:nvCxnSpPr>
            <p:spPr>
              <a:xfrm>
                <a:off x="950905" y="1717337"/>
                <a:ext cx="625479" cy="2786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직선 연결선 322">
                <a:extLst>
                  <a:ext uri="{FF2B5EF4-FFF2-40B4-BE49-F238E27FC236}">
                    <a16:creationId xmlns:a16="http://schemas.microsoft.com/office/drawing/2014/main" id="{0515A4B1-F909-4B7C-88A4-28AD64144280}"/>
                  </a:ext>
                </a:extLst>
              </p:cNvPr>
              <p:cNvCxnSpPr>
                <a:stCxn id="314" idx="4"/>
                <a:endCxn id="315" idx="0"/>
              </p:cNvCxnSpPr>
              <p:nvPr/>
            </p:nvCxnSpPr>
            <p:spPr>
              <a:xfrm flipH="1">
                <a:off x="649291" y="1717337"/>
                <a:ext cx="614353" cy="28257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직선 연결선 323">
                <a:extLst>
                  <a:ext uri="{FF2B5EF4-FFF2-40B4-BE49-F238E27FC236}">
                    <a16:creationId xmlns:a16="http://schemas.microsoft.com/office/drawing/2014/main" id="{66B6918C-326E-47BF-BB1D-E7E032EA5E7A}"/>
                  </a:ext>
                </a:extLst>
              </p:cNvPr>
              <p:cNvCxnSpPr>
                <a:stCxn id="314" idx="4"/>
                <a:endCxn id="316" idx="0"/>
              </p:cNvCxnSpPr>
              <p:nvPr/>
            </p:nvCxnSpPr>
            <p:spPr>
              <a:xfrm flipH="1">
                <a:off x="956468" y="1717337"/>
                <a:ext cx="307176" cy="28051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직선 연결선 324">
                <a:extLst>
                  <a:ext uri="{FF2B5EF4-FFF2-40B4-BE49-F238E27FC236}">
                    <a16:creationId xmlns:a16="http://schemas.microsoft.com/office/drawing/2014/main" id="{498CF913-C644-4BFA-8A48-3B6C8D40F095}"/>
                  </a:ext>
                </a:extLst>
              </p:cNvPr>
              <p:cNvCxnSpPr>
                <a:stCxn id="314" idx="4"/>
                <a:endCxn id="317" idx="0"/>
              </p:cNvCxnSpPr>
              <p:nvPr/>
            </p:nvCxnSpPr>
            <p:spPr>
              <a:xfrm>
                <a:off x="1263644" y="1717337"/>
                <a:ext cx="1" cy="2786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0B92568E-32D8-47D7-BA15-043C4058CD43}"/>
                  </a:ext>
                </a:extLst>
              </p:cNvPr>
              <p:cNvCxnSpPr>
                <a:stCxn id="314" idx="4"/>
                <a:endCxn id="318" idx="0"/>
              </p:cNvCxnSpPr>
              <p:nvPr/>
            </p:nvCxnSpPr>
            <p:spPr>
              <a:xfrm>
                <a:off x="1263644" y="1717337"/>
                <a:ext cx="312740" cy="2786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4DCDDC9D-A9A8-4C75-A4D7-A61987BC03D3}"/>
                </a:ext>
              </a:extLst>
            </p:cNvPr>
            <p:cNvSpPr txBox="1"/>
            <p:nvPr/>
          </p:nvSpPr>
          <p:spPr>
            <a:xfrm>
              <a:off x="-143981" y="2344060"/>
              <a:ext cx="2461995" cy="3582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Discriminator Module</a:t>
              </a:r>
              <a:endPara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327" name="꺾인 연결선 120">
            <a:extLst>
              <a:ext uri="{FF2B5EF4-FFF2-40B4-BE49-F238E27FC236}">
                <a16:creationId xmlns:a16="http://schemas.microsoft.com/office/drawing/2014/main" id="{E1BEDEE3-865F-419C-AC13-C555E359E3E2}"/>
              </a:ext>
            </a:extLst>
          </p:cNvPr>
          <p:cNvCxnSpPr>
            <a:cxnSpLocks/>
          </p:cNvCxnSpPr>
          <p:nvPr/>
        </p:nvCxnSpPr>
        <p:spPr>
          <a:xfrm flipH="1" flipV="1">
            <a:off x="5956787" y="4364064"/>
            <a:ext cx="731" cy="1048220"/>
          </a:xfrm>
          <a:prstGeom prst="straightConnector1">
            <a:avLst/>
          </a:prstGeom>
          <a:ln w="31750">
            <a:solidFill>
              <a:srgbClr val="FF0000"/>
            </a:solidFill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extBox 327">
            <a:extLst>
              <a:ext uri="{FF2B5EF4-FFF2-40B4-BE49-F238E27FC236}">
                <a16:creationId xmlns:a16="http://schemas.microsoft.com/office/drawing/2014/main" id="{46803389-6EB8-4093-B393-EFB94BE0ABB3}"/>
              </a:ext>
            </a:extLst>
          </p:cNvPr>
          <p:cNvSpPr txBox="1"/>
          <p:nvPr/>
        </p:nvSpPr>
        <p:spPr>
          <a:xfrm>
            <a:off x="2832460" y="5812367"/>
            <a:ext cx="1688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GAN loss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29" name="꺾인 연결선 120">
            <a:extLst>
              <a:ext uri="{FF2B5EF4-FFF2-40B4-BE49-F238E27FC236}">
                <a16:creationId xmlns:a16="http://schemas.microsoft.com/office/drawing/2014/main" id="{79BB238E-A2C9-436F-9CAB-0BD9DE645E66}"/>
              </a:ext>
            </a:extLst>
          </p:cNvPr>
          <p:cNvCxnSpPr>
            <a:cxnSpLocks/>
            <a:stCxn id="312" idx="1"/>
            <a:endCxn id="243" idx="2"/>
          </p:cNvCxnSpPr>
          <p:nvPr/>
        </p:nvCxnSpPr>
        <p:spPr>
          <a:xfrm rot="10800000">
            <a:off x="1504346" y="4382428"/>
            <a:ext cx="3642637" cy="1403074"/>
          </a:xfrm>
          <a:prstGeom prst="bentConnector2">
            <a:avLst/>
          </a:prstGeom>
          <a:ln w="31750">
            <a:solidFill>
              <a:srgbClr val="FF0000"/>
            </a:solidFill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0" name="그룹 329">
            <a:extLst>
              <a:ext uri="{FF2B5EF4-FFF2-40B4-BE49-F238E27FC236}">
                <a16:creationId xmlns:a16="http://schemas.microsoft.com/office/drawing/2014/main" id="{D9897E65-D84A-4DA7-9174-307B5657E162}"/>
              </a:ext>
            </a:extLst>
          </p:cNvPr>
          <p:cNvGrpSpPr/>
          <p:nvPr/>
        </p:nvGrpSpPr>
        <p:grpSpPr>
          <a:xfrm>
            <a:off x="7021488" y="2721361"/>
            <a:ext cx="1120820" cy="730121"/>
            <a:chOff x="7504759" y="2590379"/>
            <a:chExt cx="1120820" cy="730121"/>
          </a:xfrm>
        </p:grpSpPr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A7FF30BE-5AD2-448E-B093-64E101FF2706}"/>
                </a:ext>
              </a:extLst>
            </p:cNvPr>
            <p:cNvSpPr txBox="1"/>
            <p:nvPr/>
          </p:nvSpPr>
          <p:spPr>
            <a:xfrm>
              <a:off x="7504759" y="3043501"/>
              <a:ext cx="11208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Quantization</a:t>
              </a:r>
              <a:endParaRPr lang="ko-KR" altLang="en-US" sz="1200" b="1" dirty="0"/>
            </a:p>
          </p:txBody>
        </p:sp>
        <p:pic>
          <p:nvPicPr>
            <p:cNvPr id="332" name="그림 331">
              <a:extLst>
                <a:ext uri="{FF2B5EF4-FFF2-40B4-BE49-F238E27FC236}">
                  <a16:creationId xmlns:a16="http://schemas.microsoft.com/office/drawing/2014/main" id="{753C9EF6-8304-4117-B6B0-CBA1FE249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04897" y="2590379"/>
              <a:ext cx="479094" cy="496205"/>
            </a:xfrm>
            <a:prstGeom prst="rect">
              <a:avLst/>
            </a:prstGeom>
          </p:spPr>
        </p:pic>
      </p:grpSp>
      <p:pic>
        <p:nvPicPr>
          <p:cNvPr id="333" name="그림 332">
            <a:extLst>
              <a:ext uri="{FF2B5EF4-FFF2-40B4-BE49-F238E27FC236}">
                <a16:creationId xmlns:a16="http://schemas.microsoft.com/office/drawing/2014/main" id="{65F8EAD1-49A2-4080-8203-68F3FD95E9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0109" y="2513095"/>
            <a:ext cx="822577" cy="426110"/>
          </a:xfrm>
          <a:prstGeom prst="rect">
            <a:avLst/>
          </a:prstGeom>
        </p:spPr>
      </p:pic>
      <p:sp>
        <p:nvSpPr>
          <p:cNvPr id="334" name="TextBox 333">
            <a:extLst>
              <a:ext uri="{FF2B5EF4-FFF2-40B4-BE49-F238E27FC236}">
                <a16:creationId xmlns:a16="http://schemas.microsoft.com/office/drawing/2014/main" id="{77B2EC2D-56B5-4785-B530-36D8B0517D3A}"/>
              </a:ext>
            </a:extLst>
          </p:cNvPr>
          <p:cNvSpPr txBox="1"/>
          <p:nvPr/>
        </p:nvSpPr>
        <p:spPr>
          <a:xfrm>
            <a:off x="7776989" y="2920145"/>
            <a:ext cx="1589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Interframe Coding</a:t>
            </a:r>
            <a:endParaRPr lang="ko-KR" altLang="en-US" sz="1200" b="1" dirty="0"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49F807BD-683C-4858-92B4-D19D6F2A8F9E}"/>
              </a:ext>
            </a:extLst>
          </p:cNvPr>
          <p:cNvSpPr txBox="1"/>
          <p:nvPr/>
        </p:nvSpPr>
        <p:spPr>
          <a:xfrm>
            <a:off x="1759035" y="1419925"/>
            <a:ext cx="1521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Temporal-Spatial Saliency Map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9" name="그림 338">
            <a:extLst>
              <a:ext uri="{FF2B5EF4-FFF2-40B4-BE49-F238E27FC236}">
                <a16:creationId xmlns:a16="http://schemas.microsoft.com/office/drawing/2014/main" id="{384B6E3E-FB8F-496D-A833-6291FBEC686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146" y="2953133"/>
            <a:ext cx="286352" cy="286352"/>
          </a:xfrm>
          <a:prstGeom prst="rect">
            <a:avLst/>
          </a:prstGeom>
        </p:spPr>
      </p:pic>
      <p:sp>
        <p:nvSpPr>
          <p:cNvPr id="342" name="TextBox 341">
            <a:extLst>
              <a:ext uri="{FF2B5EF4-FFF2-40B4-BE49-F238E27FC236}">
                <a16:creationId xmlns:a16="http://schemas.microsoft.com/office/drawing/2014/main" id="{A91F7140-64D3-457A-B665-5089794B6114}"/>
              </a:ext>
            </a:extLst>
          </p:cNvPr>
          <p:cNvSpPr txBox="1"/>
          <p:nvPr/>
        </p:nvSpPr>
        <p:spPr>
          <a:xfrm>
            <a:off x="6733742" y="6493455"/>
            <a:ext cx="5003186" cy="27699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E2E Loss = Reconstruction Loss + GAN Loss + Message Loss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6394ADB4-7BFD-4048-A212-696BDC850B5D}"/>
              </a:ext>
            </a:extLst>
          </p:cNvPr>
          <p:cNvSpPr txBox="1"/>
          <p:nvPr/>
        </p:nvSpPr>
        <p:spPr>
          <a:xfrm>
            <a:off x="435418" y="2599395"/>
            <a:ext cx="10862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 Frames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56" name="그림 355">
            <a:extLst>
              <a:ext uri="{FF2B5EF4-FFF2-40B4-BE49-F238E27FC236}">
                <a16:creationId xmlns:a16="http://schemas.microsoft.com/office/drawing/2014/main" id="{E39E9D62-49DF-46B9-A7F9-813BA302C38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220" y="1453814"/>
            <a:ext cx="228337" cy="228337"/>
          </a:xfrm>
          <a:prstGeom prst="rect">
            <a:avLst/>
          </a:prstGeom>
        </p:spPr>
      </p:pic>
      <p:pic>
        <p:nvPicPr>
          <p:cNvPr id="357" name="그림 356">
            <a:extLst>
              <a:ext uri="{FF2B5EF4-FFF2-40B4-BE49-F238E27FC236}">
                <a16:creationId xmlns:a16="http://schemas.microsoft.com/office/drawing/2014/main" id="{F91FADC0-D9FC-4CC6-AECB-74EE416F6F8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48" y="1463052"/>
            <a:ext cx="228337" cy="228337"/>
          </a:xfrm>
          <a:prstGeom prst="rect">
            <a:avLst/>
          </a:prstGeom>
        </p:spPr>
      </p:pic>
      <p:pic>
        <p:nvPicPr>
          <p:cNvPr id="358" name="그림 357">
            <a:extLst>
              <a:ext uri="{FF2B5EF4-FFF2-40B4-BE49-F238E27FC236}">
                <a16:creationId xmlns:a16="http://schemas.microsoft.com/office/drawing/2014/main" id="{82D3D78B-4307-43D1-B681-3C4AFFF8FF1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29" y="2460457"/>
            <a:ext cx="228337" cy="228337"/>
          </a:xfrm>
          <a:prstGeom prst="rect">
            <a:avLst/>
          </a:prstGeom>
        </p:spPr>
      </p:pic>
      <p:pic>
        <p:nvPicPr>
          <p:cNvPr id="359" name="그림 358">
            <a:extLst>
              <a:ext uri="{FF2B5EF4-FFF2-40B4-BE49-F238E27FC236}">
                <a16:creationId xmlns:a16="http://schemas.microsoft.com/office/drawing/2014/main" id="{CEAB3D4C-B47D-4709-A135-84517DE4B0F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016" y="4280720"/>
            <a:ext cx="286352" cy="286352"/>
          </a:xfrm>
          <a:prstGeom prst="rect">
            <a:avLst/>
          </a:prstGeom>
        </p:spPr>
      </p:pic>
      <p:pic>
        <p:nvPicPr>
          <p:cNvPr id="360" name="그림 359">
            <a:extLst>
              <a:ext uri="{FF2B5EF4-FFF2-40B4-BE49-F238E27FC236}">
                <a16:creationId xmlns:a16="http://schemas.microsoft.com/office/drawing/2014/main" id="{7E40767E-8B8B-4CC3-A5F3-F978B1D9407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710" y="5475050"/>
            <a:ext cx="286352" cy="286352"/>
          </a:xfrm>
          <a:prstGeom prst="rect">
            <a:avLst/>
          </a:prstGeom>
        </p:spPr>
      </p:pic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C64DA690-095B-43B9-B17A-2415F233ADFB}"/>
              </a:ext>
            </a:extLst>
          </p:cNvPr>
          <p:cNvGrpSpPr/>
          <p:nvPr/>
        </p:nvGrpSpPr>
        <p:grpSpPr>
          <a:xfrm>
            <a:off x="274064" y="2908458"/>
            <a:ext cx="1018182" cy="365224"/>
            <a:chOff x="718444" y="4068647"/>
            <a:chExt cx="1018182" cy="365224"/>
          </a:xfrm>
        </p:grpSpPr>
        <p:pic>
          <p:nvPicPr>
            <p:cNvPr id="178" name="Picture 4" descr="Result Image">
              <a:extLst>
                <a:ext uri="{FF2B5EF4-FFF2-40B4-BE49-F238E27FC236}">
                  <a16:creationId xmlns:a16="http://schemas.microsoft.com/office/drawing/2014/main" id="{16AE921D-F36C-4553-97B1-BF7E4268D6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444" y="4068647"/>
              <a:ext cx="567237" cy="360263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9" name="Picture 4" descr="Result Image">
              <a:extLst>
                <a:ext uri="{FF2B5EF4-FFF2-40B4-BE49-F238E27FC236}">
                  <a16:creationId xmlns:a16="http://schemas.microsoft.com/office/drawing/2014/main" id="{5B21B822-2693-4692-8ECA-502E11D10D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508" y="4071234"/>
              <a:ext cx="567237" cy="360263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sp3d prstMaterial="powder"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0" name="Picture 4" descr="Result Image">
              <a:extLst>
                <a:ext uri="{FF2B5EF4-FFF2-40B4-BE49-F238E27FC236}">
                  <a16:creationId xmlns:a16="http://schemas.microsoft.com/office/drawing/2014/main" id="{A9056EF6-7B45-4447-A07E-2148039D34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9390" y="4073607"/>
              <a:ext cx="567236" cy="360264"/>
            </a:xfrm>
            <a:prstGeom prst="rect">
              <a:avLst/>
            </a:prstGeom>
            <a:noFill/>
            <a:scene3d>
              <a:camera prst="isometricRightUp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CAAED602-8019-4AC0-B685-89FE334C60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4056" y="1909039"/>
            <a:ext cx="799939" cy="4535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AAF0140-30F3-4214-B101-DD76E0458ADC}"/>
              </a:ext>
            </a:extLst>
          </p:cNvPr>
          <p:cNvSpPr txBox="1"/>
          <p:nvPr/>
        </p:nvSpPr>
        <p:spPr>
          <a:xfrm>
            <a:off x="1143637" y="2793157"/>
            <a:ext cx="2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E0F246-FF9F-47F8-919C-2270E9975BB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61" y="1475132"/>
            <a:ext cx="503469" cy="471616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FE29D5E4-E81F-48D5-AC22-67525D470A4C}"/>
              </a:ext>
            </a:extLst>
          </p:cNvPr>
          <p:cNvSpPr txBox="1"/>
          <p:nvPr/>
        </p:nvSpPr>
        <p:spPr>
          <a:xfrm>
            <a:off x="368251" y="1874383"/>
            <a:ext cx="67764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DCT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2385546-78D3-4C98-B4F3-3AE8DFAB7ED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70" y="1682832"/>
            <a:ext cx="595483" cy="383469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9A7341BA-2A52-4E49-84FF-46173CFB2C10}"/>
              </a:ext>
            </a:extLst>
          </p:cNvPr>
          <p:cNvSpPr txBox="1"/>
          <p:nvPr/>
        </p:nvSpPr>
        <p:spPr>
          <a:xfrm>
            <a:off x="709396" y="2037531"/>
            <a:ext cx="123215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Optical Flow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7" name="제목 1"/>
          <p:cNvSpPr txBox="1">
            <a:spLocks/>
          </p:cNvSpPr>
          <p:nvPr/>
        </p:nvSpPr>
        <p:spPr>
          <a:xfrm>
            <a:off x="382083" y="106880"/>
            <a:ext cx="6758683" cy="5783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b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E2E </a:t>
            </a:r>
            <a:r>
              <a:rPr lang="ko-KR" altLang="en-US" sz="1800" b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비디오 워터마크 모델</a:t>
            </a:r>
            <a:endParaRPr lang="ko-KR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465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0" y="1662546"/>
          <a:ext cx="12191999" cy="28951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6963">
                  <a:extLst>
                    <a:ext uri="{9D8B030D-6E8A-4147-A177-3AD203B41FA5}">
                      <a16:colId xmlns:a16="http://schemas.microsoft.com/office/drawing/2014/main" val="755869430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44251459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957446686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3444850429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474429438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257433956"/>
                    </a:ext>
                  </a:extLst>
                </a:gridCol>
                <a:gridCol w="1752506">
                  <a:extLst>
                    <a:ext uri="{9D8B030D-6E8A-4147-A177-3AD203B41FA5}">
                      <a16:colId xmlns:a16="http://schemas.microsoft.com/office/drawing/2014/main" val="2218430300"/>
                    </a:ext>
                  </a:extLst>
                </a:gridCol>
              </a:tblGrid>
              <a:tr h="180352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 </a:t>
                      </a:r>
                      <a:r>
                        <a:rPr lang="ko-KR" altLang="en-US" sz="105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워터마킹</a:t>
                      </a:r>
                      <a:r>
                        <a:rPr lang="ko-KR" alt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논문</a:t>
                      </a:r>
                      <a:endParaRPr lang="ko-KR" altLang="en-US" sz="105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학습 데이터 </a:t>
                      </a:r>
                      <a:r>
                        <a:rPr lang="ko-KR" altLang="en-US" sz="105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셋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 워터마크 인코더 </a:t>
                      </a:r>
                      <a:endParaRPr lang="ko-KR" altLang="en-US" sz="105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노이즈</a:t>
                      </a:r>
                      <a:endParaRPr lang="ko-KR" altLang="en-US" sz="105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 워터마크 </a:t>
                      </a:r>
                      <a:r>
                        <a:rPr lang="ko-KR" altLang="en-US" sz="105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디코더</a:t>
                      </a:r>
                      <a:r>
                        <a:rPr lang="ko-KR" altLang="en-US" sz="105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특징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364202"/>
                  </a:ext>
                </a:extLst>
              </a:tr>
              <a:tr h="2257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백본</a:t>
                      </a:r>
                      <a:endParaRPr lang="ko-KR" altLang="en-US" sz="10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인코딩</a:t>
                      </a:r>
                      <a:r>
                        <a:rPr lang="en-US" altLang="ko-KR" sz="10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1" baseline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과정</a:t>
                      </a:r>
                      <a:r>
                        <a:rPr lang="ko-KR" altLang="en-US" sz="1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</a:p>
                  </a:txBody>
                  <a:tcPr marL="44401" marR="44401" marT="22201" marB="22201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70315"/>
                  </a:ext>
                </a:extLst>
              </a:tr>
              <a:tr h="5890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DVMARK</a:t>
                      </a:r>
                      <a:b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n-US" altLang="ko-KR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IEEE TIP 2023, google</a:t>
                      </a:r>
                      <a: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sz="105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Kinetics-600</a:t>
                      </a:r>
                      <a:endParaRPr lang="ko-KR" altLang="en-US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멀티헤드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CNN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메시지를 단순 반복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영상에 붙여 각 헤드 인코더에 입력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H.264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모방하는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compressNet</a:t>
                      </a:r>
                      <a:endParaRPr lang="en-US" altLang="ko-KR" sz="900" b="1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Blur,crop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…</a:t>
                      </a:r>
                    </a:p>
                    <a:p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Frame drop, swap..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멀티 헤드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 CNN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딥러닝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기반 비디오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워터마킹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제안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워터마크 유무 파악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디텍터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포함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코드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X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665159879"/>
                  </a:ext>
                </a:extLst>
              </a:tr>
              <a:tr h="7253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REVMark</a:t>
                      </a:r>
                      <a: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(ACM</a:t>
                      </a:r>
                      <a:r>
                        <a:rPr lang="en-US" sz="105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MM 2023)</a:t>
                      </a:r>
                      <a:endParaRPr lang="en-US" altLang="ko-KR" sz="105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Kinetics-600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 CNN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-TAs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block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으로 시공간 정보 추출</a:t>
                      </a:r>
                      <a:endParaRPr lang="en-US" altLang="ko-KR" sz="900" b="1" baseline="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메시지와 </a:t>
                      </a:r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concat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후 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 </a:t>
                      </a:r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cnn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H.264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모방하는 모듈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딥러닝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x)</a:t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Blur,crop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…</a:t>
                      </a:r>
                    </a:p>
                    <a:p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Frame drop, swap..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TAs block +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3D CNN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시공간 정보를 추출하는 모듈 도입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-H.264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 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모방하는 모듈 도입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962532668"/>
                  </a:ext>
                </a:extLst>
              </a:tr>
              <a:tr h="5614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DINVMark</a:t>
                      </a:r>
                      <a: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(IEEE TIP 2025)</a:t>
                      </a:r>
                      <a:endParaRPr lang="en-US" altLang="ko-KR" sz="105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Kinetics-600</a:t>
                      </a:r>
                      <a:endParaRPr lang="ko-KR" altLang="en-US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REDS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인코더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디코더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동일한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Invertible Network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삽입된 메시지만큼 원본 이미지에서 정보를 빼는 방식으로 삽입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H.264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모방하는 모듈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(INN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이용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  <a:p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Blur,crop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…</a:t>
                      </a:r>
                    </a:p>
                    <a:p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Frame drop, swap..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인코더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디코더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동일한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Invertible Network</a:t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역연산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코드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</a:t>
                      </a: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Invertible Network(INN)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3364374332"/>
                  </a:ext>
                </a:extLst>
              </a:tr>
              <a:tr h="589090">
                <a:tc>
                  <a:txBody>
                    <a:bodyPr/>
                    <a:lstStyle/>
                    <a:p>
                      <a:r>
                        <a:rPr lang="en-US" altLang="ko-KR" sz="105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VideoSeal</a:t>
                      </a:r>
                      <a:endParaRPr lang="en-US" altLang="ko-KR" sz="105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105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(2025,</a:t>
                      </a:r>
                      <a:r>
                        <a:rPr lang="en-US" altLang="ko-KR" sz="105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Meta)</a:t>
                      </a:r>
                      <a:endParaRPr lang="ko-KR" altLang="en-US" sz="105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SA-1B (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b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SA-V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UNET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이미지에 대해 </a:t>
                      </a:r>
                      <a:r>
                        <a:rPr lang="ko-KR" altLang="en-US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워터마킹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이후 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프레임에 대해 복사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H.264 (</a:t>
                      </a:r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backprop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X)</a:t>
                      </a:r>
                      <a:b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900" b="1" baseline="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Blur,crop</a:t>
                      </a:r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…</a:t>
                      </a:r>
                    </a:p>
                    <a:p>
                      <a:r>
                        <a:rPr lang="en-US" altLang="ko-KR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Frame drop, swap..</a:t>
                      </a: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VIT / </a:t>
                      </a:r>
                      <a:r>
                        <a:rPr lang="en-US" altLang="ko-KR" sz="900" b="1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ConvNext</a:t>
                      </a:r>
                      <a:endParaRPr lang="ko-KR" altLang="en-US" sz="9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 모델을 비디오로 확산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해상도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프레임에 무관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이미지</a:t>
                      </a:r>
                      <a:r>
                        <a:rPr lang="en-US" altLang="ko-KR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r>
                        <a:rPr lang="ko-KR" altLang="en-US" sz="900" b="1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비디오</a:t>
                      </a:r>
                      <a:r>
                        <a:rPr lang="ko-KR" altLang="en-US" sz="900" b="1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멀티스테이지 학습</a:t>
                      </a:r>
                      <a:endParaRPr lang="en-US" altLang="ko-KR" sz="900" b="1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4401" marR="44401" marT="22201" marB="22201" anchor="ctr"/>
                </a:tc>
                <a:extLst>
                  <a:ext uri="{0D108BD9-81ED-4DB2-BD59-A6C34878D82A}">
                    <a16:rowId xmlns:a16="http://schemas.microsoft.com/office/drawing/2014/main" val="3027405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91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586849"/>
              </p:ext>
            </p:extLst>
          </p:nvPr>
        </p:nvGraphicFramePr>
        <p:xfrm>
          <a:off x="0" y="-1"/>
          <a:ext cx="12191999" cy="6858000"/>
        </p:xfrm>
        <a:graphic>
          <a:graphicData uri="http://schemas.openxmlformats.org/drawingml/2006/table">
            <a:tbl>
              <a:tblPr/>
              <a:tblGrid>
                <a:gridCol w="12191999">
                  <a:extLst>
                    <a:ext uri="{9D8B030D-6E8A-4147-A177-3AD203B41FA5}">
                      <a16:colId xmlns:a16="http://schemas.microsoft.com/office/drawing/2014/main" val="1536117364"/>
                    </a:ext>
                  </a:extLst>
                </a:gridCol>
              </a:tblGrid>
              <a:tr h="3429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</a:t>
                      </a:r>
                      <a:endParaRPr lang="en-US" sz="4000" b="1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(CVPR,</a:t>
                      </a:r>
                      <a:r>
                        <a:rPr lang="en-US" sz="40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2018</a:t>
                      </a:r>
                      <a:r>
                        <a:rPr lang="en-US" sz="40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760" marR="60760" marT="16798" marB="16798" anchor="ctr">
                    <a:lnL>
                      <a:noFill/>
                    </a:lnL>
                    <a:lnR>
                      <a:noFill/>
                    </a:lnR>
                    <a:lnT w="43180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806371"/>
                  </a:ext>
                </a:extLst>
              </a:tr>
              <a:tr h="3429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900" b="1" kern="0" spc="0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MMLAB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760" marR="60760" marT="16798" marB="16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9263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8428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62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322900"/>
              </p:ext>
            </p:extLst>
          </p:nvPr>
        </p:nvGraphicFramePr>
        <p:xfrm>
          <a:off x="0" y="27432"/>
          <a:ext cx="12192000" cy="6948324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905710"/>
            <a:ext cx="12192000" cy="28007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8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Encoder(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INPUT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I_co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H, W],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M_in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L], 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OUTPUT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I_en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H, W] ) </a:t>
            </a:r>
          </a:p>
          <a:p>
            <a:pPr algn="just" fontAlgn="base">
              <a:lnSpc>
                <a:spcPts val="28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b="1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Step 1:  </a:t>
            </a:r>
            <a:r>
              <a:rPr lang="en-US" altLang="ko-KR" b="1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Conv</a:t>
            </a:r>
            <a:r>
              <a:rPr lang="en-US" altLang="ko-KR" b="1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Layer(4 blocks, 3x3 kernel, 1 stride, 1 padding)</a:t>
            </a:r>
          </a:p>
          <a:p>
            <a:pPr>
              <a:lnSpc>
                <a:spcPts val="2800"/>
              </a:lnSpc>
            </a:pPr>
            <a:r>
              <a:rPr lang="en-US" altLang="ko-KR" dirty="0"/>
              <a:t>        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</a:t>
            </a:r>
            <a:r>
              <a:rPr lang="en-US" altLang="ko-KR" dirty="0"/>
              <a:t>#1: </a:t>
            </a:r>
            <a:r>
              <a:rPr lang="en-US" altLang="ko-KR" b="1" dirty="0">
                <a:solidFill>
                  <a:srgbClr val="FF0000"/>
                </a:solidFill>
              </a:rPr>
              <a:t>[B, </a:t>
            </a:r>
            <a:r>
              <a:rPr lang="en-US" altLang="ko-KR" b="1" dirty="0" smtClean="0">
                <a:solidFill>
                  <a:srgbClr val="FF0000"/>
                </a:solidFill>
              </a:rPr>
              <a:t>3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en-US" altLang="ko-KR" b="1" dirty="0" smtClean="0">
                <a:solidFill>
                  <a:srgbClr val="FF0000"/>
                </a:solidFill>
              </a:rPr>
              <a:t>H, W]</a:t>
            </a:r>
            <a:r>
              <a:rPr lang="en-US" altLang="ko-KR" dirty="0" smtClean="0"/>
              <a:t>  → </a:t>
            </a:r>
            <a:r>
              <a:rPr lang="en-US" altLang="ko-KR" dirty="0"/>
              <a:t>[B, 64, </a:t>
            </a:r>
            <a:r>
              <a:rPr lang="en-US" altLang="ko-KR" dirty="0" smtClean="0"/>
              <a:t>H, W]</a:t>
            </a:r>
            <a:endParaRPr lang="en-US" altLang="ko-KR" dirty="0"/>
          </a:p>
          <a:p>
            <a:pPr>
              <a:lnSpc>
                <a:spcPts val="2800"/>
              </a:lnSpc>
            </a:pPr>
            <a:r>
              <a:rPr lang="en-US" altLang="ko-KR" dirty="0"/>
              <a:t>       </a:t>
            </a:r>
            <a:r>
              <a:rPr lang="en-US" altLang="ko-KR" dirty="0" smtClean="0"/>
              <a:t>      </a:t>
            </a:r>
            <a:r>
              <a:rPr lang="en-US" altLang="ko-KR" dirty="0" err="1"/>
              <a:t>Conv</a:t>
            </a:r>
            <a:r>
              <a:rPr lang="en-US" altLang="ko-KR" dirty="0"/>
              <a:t>-BN-</a:t>
            </a:r>
            <a:r>
              <a:rPr lang="en-US" altLang="ko-KR" dirty="0" err="1"/>
              <a:t>ReLU</a:t>
            </a:r>
            <a:r>
              <a:rPr lang="en-US" altLang="ko-KR" dirty="0"/>
              <a:t> #2: [B, 64, </a:t>
            </a:r>
            <a:r>
              <a:rPr lang="en-US" altLang="ko-KR" dirty="0" smtClean="0"/>
              <a:t>H, W] </a:t>
            </a:r>
            <a:r>
              <a:rPr lang="en-US" altLang="ko-KR" dirty="0"/>
              <a:t>→ [B, 64, </a:t>
            </a:r>
            <a:r>
              <a:rPr lang="en-US" altLang="ko-KR" dirty="0" smtClean="0"/>
              <a:t>H, W]</a:t>
            </a:r>
            <a:endParaRPr lang="en-US" altLang="ko-KR" dirty="0"/>
          </a:p>
          <a:p>
            <a:pPr>
              <a:lnSpc>
                <a:spcPts val="2800"/>
              </a:lnSpc>
            </a:pPr>
            <a:r>
              <a:rPr lang="en-US" altLang="ko-KR" dirty="0"/>
              <a:t>        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</a:t>
            </a:r>
            <a:r>
              <a:rPr lang="en-US" altLang="ko-KR" dirty="0"/>
              <a:t>#3: </a:t>
            </a:r>
            <a:r>
              <a:rPr lang="en-US" altLang="ko-KR" dirty="0" smtClean="0"/>
              <a:t>[B, 64, H, W] → [B, 64, H, W]</a:t>
            </a:r>
          </a:p>
          <a:p>
            <a:pPr>
              <a:lnSpc>
                <a:spcPts val="2800"/>
              </a:lnSpc>
            </a:pPr>
            <a:r>
              <a:rPr lang="en-US" altLang="ko-KR" dirty="0"/>
              <a:t>        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</a:t>
            </a:r>
            <a:r>
              <a:rPr lang="en-US" altLang="ko-KR" dirty="0"/>
              <a:t>#4: </a:t>
            </a:r>
            <a:r>
              <a:rPr lang="en-US" altLang="ko-KR" dirty="0" smtClean="0"/>
              <a:t>[B, 64, H, W] → </a:t>
            </a:r>
            <a:r>
              <a:rPr lang="en-US" altLang="ko-KR" b="1" dirty="0" smtClean="0">
                <a:solidFill>
                  <a:srgbClr val="FF0000"/>
                </a:solidFill>
              </a:rPr>
              <a:t>[B, 64, H, W]</a:t>
            </a:r>
          </a:p>
          <a:p>
            <a:r>
              <a:rPr lang="en-US" altLang="ko-KR" b="1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Step 2:  </a:t>
            </a:r>
            <a:r>
              <a:rPr lang="en-US" altLang="ko-KR" b="1" dirty="0" smtClean="0"/>
              <a:t>Message Duplicate</a:t>
            </a:r>
          </a:p>
          <a:p>
            <a:r>
              <a:rPr lang="da-DK" altLang="ko-KR" dirty="0" smtClean="0"/>
              <a:t>             message: </a:t>
            </a:r>
            <a:r>
              <a:rPr lang="da-DK" altLang="ko-KR" b="1" dirty="0" smtClean="0">
                <a:solidFill>
                  <a:srgbClr val="FF0000"/>
                </a:solidFill>
              </a:rPr>
              <a:t>[B, L] </a:t>
            </a:r>
            <a:r>
              <a:rPr lang="da-DK" altLang="ko-KR" dirty="0" smtClean="0"/>
              <a:t>→ [B, L, 1, 1] → </a:t>
            </a:r>
            <a:r>
              <a:rPr lang="da-DK" altLang="ko-KR" b="1" dirty="0" smtClean="0">
                <a:solidFill>
                  <a:srgbClr val="FF0000"/>
                </a:solidFill>
              </a:rPr>
              <a:t>[B, L, 256, 256]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4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948324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905710"/>
            <a:ext cx="12192000" cy="2627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5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Encoder(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INPUT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I_co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H, W],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M_in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L], 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OUTPUT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I_en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H, W] ) </a:t>
            </a:r>
          </a:p>
          <a:p>
            <a:pPr>
              <a:lnSpc>
                <a:spcPts val="2500"/>
              </a:lnSpc>
            </a:pPr>
            <a:r>
              <a:rPr lang="en-US" altLang="ko-KR" b="1" dirty="0"/>
              <a:t>  </a:t>
            </a:r>
            <a:r>
              <a:rPr lang="en-US" altLang="ko-KR" b="1" dirty="0" smtClean="0"/>
              <a:t>Step </a:t>
            </a:r>
            <a:r>
              <a:rPr lang="en-US" altLang="ko-KR" b="1" dirty="0"/>
              <a:t>3: </a:t>
            </a:r>
            <a:r>
              <a:rPr lang="en-US" altLang="ko-KR" b="1" dirty="0" smtClean="0"/>
              <a:t>Concatenation </a:t>
            </a:r>
            <a:r>
              <a:rPr lang="en-US" altLang="ko-KR" b="1" dirty="0"/>
              <a:t>(</a:t>
            </a:r>
            <a:r>
              <a:rPr lang="en-US" altLang="ko-KR" b="1" dirty="0" err="1"/>
              <a:t>image_features</a:t>
            </a:r>
            <a:r>
              <a:rPr lang="en-US" altLang="ko-KR" b="1" dirty="0"/>
              <a:t> + message)</a:t>
            </a:r>
          </a:p>
          <a:p>
            <a:pPr>
              <a:lnSpc>
                <a:spcPts val="2500"/>
              </a:lnSpc>
            </a:pPr>
            <a:r>
              <a:rPr lang="en-US" altLang="ko-KR" dirty="0"/>
              <a:t>       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Concat</a:t>
            </a:r>
            <a:r>
              <a:rPr lang="en-US" altLang="ko-KR" dirty="0"/>
              <a:t>([</a:t>
            </a:r>
            <a:r>
              <a:rPr lang="en-US" altLang="ko-KR" dirty="0" err="1"/>
              <a:t>image_features</a:t>
            </a:r>
            <a:r>
              <a:rPr lang="en-US" altLang="ko-KR" dirty="0"/>
              <a:t>, </a:t>
            </a:r>
            <a:r>
              <a:rPr lang="en-US" altLang="ko-KR" dirty="0" err="1"/>
              <a:t>expanded_message</a:t>
            </a:r>
            <a:r>
              <a:rPr lang="en-US" altLang="ko-KR" dirty="0"/>
              <a:t>]): </a:t>
            </a:r>
            <a:r>
              <a:rPr lang="en-US" altLang="ko-KR" b="1" dirty="0">
                <a:solidFill>
                  <a:srgbClr val="FF0000"/>
                </a:solidFill>
              </a:rPr>
              <a:t>[B, </a:t>
            </a:r>
            <a:r>
              <a:rPr lang="en-US" altLang="ko-KR" b="1" dirty="0" smtClean="0">
                <a:solidFill>
                  <a:srgbClr val="FF0000"/>
                </a:solidFill>
              </a:rPr>
              <a:t>64+L, H, W]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  </a:t>
            </a:r>
            <a:r>
              <a:rPr lang="en-US" altLang="ko-KR" b="1" dirty="0" smtClean="0"/>
              <a:t>Step </a:t>
            </a:r>
            <a:r>
              <a:rPr lang="en-US" altLang="ko-KR" b="1" dirty="0"/>
              <a:t>4: After </a:t>
            </a:r>
            <a:r>
              <a:rPr lang="en-US" altLang="ko-KR" b="1" dirty="0" err="1"/>
              <a:t>Concat</a:t>
            </a:r>
            <a:r>
              <a:rPr lang="en-US" altLang="ko-KR" b="1" dirty="0"/>
              <a:t> Layer</a:t>
            </a:r>
          </a:p>
          <a:p>
            <a:pPr>
              <a:lnSpc>
                <a:spcPts val="2500"/>
              </a:lnSpc>
            </a:pPr>
            <a:r>
              <a:rPr lang="en-US" altLang="ko-KR" dirty="0"/>
              <a:t>      </a:t>
            </a:r>
            <a:r>
              <a:rPr lang="en-US" altLang="ko-KR" dirty="0" smtClean="0"/>
              <a:t>    </a:t>
            </a:r>
            <a:r>
              <a:rPr lang="en-US" altLang="ko-KR" dirty="0"/>
              <a:t>  </a:t>
            </a:r>
            <a:r>
              <a:rPr lang="en-US" altLang="ko-KR" dirty="0" err="1"/>
              <a:t>Conv</a:t>
            </a:r>
            <a:r>
              <a:rPr lang="en-US" altLang="ko-KR" dirty="0"/>
              <a:t>-BN-</a:t>
            </a:r>
            <a:r>
              <a:rPr lang="en-US" altLang="ko-KR" dirty="0" err="1"/>
              <a:t>ReLU</a:t>
            </a:r>
            <a:r>
              <a:rPr lang="en-US" altLang="ko-KR" dirty="0"/>
              <a:t>: [B, </a:t>
            </a:r>
            <a:r>
              <a:rPr lang="en-US" altLang="ko-KR" dirty="0" smtClean="0"/>
              <a:t>64+L, </a:t>
            </a:r>
            <a:r>
              <a:rPr lang="en-US" altLang="ko-KR" dirty="0"/>
              <a:t>256, 256] → </a:t>
            </a:r>
            <a:r>
              <a:rPr lang="en-US" altLang="ko-KR" b="1" dirty="0">
                <a:solidFill>
                  <a:srgbClr val="FF0000"/>
                </a:solidFill>
              </a:rPr>
              <a:t>[B, 64, 256, 256</a:t>
            </a:r>
            <a:r>
              <a:rPr lang="en-US" altLang="ko-KR" b="1" dirty="0" smtClean="0">
                <a:solidFill>
                  <a:srgbClr val="FF0000"/>
                </a:solidFill>
              </a:rPr>
              <a:t>]</a:t>
            </a:r>
          </a:p>
          <a:p>
            <a:pPr>
              <a:lnSpc>
                <a:spcPts val="2500"/>
              </a:lnSpc>
            </a:pPr>
            <a:r>
              <a:rPr lang="en-US" altLang="ko-KR" b="1" dirty="0"/>
              <a:t>  </a:t>
            </a:r>
            <a:r>
              <a:rPr lang="en-US" altLang="ko-KR" b="1" dirty="0" smtClean="0"/>
              <a:t>Step </a:t>
            </a:r>
            <a:r>
              <a:rPr lang="en-US" altLang="ko-KR" b="1" dirty="0"/>
              <a:t>5: </a:t>
            </a:r>
            <a:r>
              <a:rPr lang="en-US" altLang="ko-KR" b="1" dirty="0" smtClean="0"/>
              <a:t>Concatenation </a:t>
            </a:r>
            <a:r>
              <a:rPr lang="en-US" altLang="ko-KR" b="1" dirty="0"/>
              <a:t>+ Final Layer (1x1 </a:t>
            </a:r>
            <a:r>
              <a:rPr lang="en-US" altLang="ko-KR" b="1" dirty="0" err="1"/>
              <a:t>conv</a:t>
            </a:r>
            <a:r>
              <a:rPr lang="en-US" altLang="ko-KR" b="1" dirty="0"/>
              <a:t>)</a:t>
            </a:r>
          </a:p>
          <a:p>
            <a:pPr>
              <a:lnSpc>
                <a:spcPts val="2500"/>
              </a:lnSpc>
            </a:pPr>
            <a:r>
              <a:rPr lang="en-US" altLang="ko-KR" dirty="0"/>
              <a:t>       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Concat</a:t>
            </a:r>
            <a:r>
              <a:rPr lang="en-US" altLang="ko-KR" dirty="0"/>
              <a:t>([</a:t>
            </a:r>
            <a:r>
              <a:rPr lang="en-US" altLang="ko-KR" dirty="0" err="1"/>
              <a:t>message_features</a:t>
            </a:r>
            <a:r>
              <a:rPr lang="en-US" altLang="ko-KR" dirty="0"/>
              <a:t>, image]): </a:t>
            </a:r>
            <a:r>
              <a:rPr lang="en-US" altLang="ko-KR" b="1" dirty="0">
                <a:solidFill>
                  <a:srgbClr val="FF0000"/>
                </a:solidFill>
              </a:rPr>
              <a:t>[B, 64+3, 256, 256</a:t>
            </a:r>
            <a:r>
              <a:rPr lang="en-US" altLang="ko-KR" b="1" dirty="0" smtClean="0">
                <a:solidFill>
                  <a:srgbClr val="FF0000"/>
                </a:solidFill>
              </a:rPr>
              <a:t>]</a:t>
            </a:r>
          </a:p>
          <a:p>
            <a:pPr>
              <a:lnSpc>
                <a:spcPts val="2500"/>
              </a:lnSpc>
            </a:pPr>
            <a:r>
              <a:rPr lang="en-US" altLang="ko-KR" dirty="0" smtClean="0"/>
              <a:t> </a:t>
            </a:r>
            <a:r>
              <a:rPr lang="en-US" altLang="ko-KR" dirty="0"/>
              <a:t>  </a:t>
            </a:r>
            <a:r>
              <a:rPr lang="en-US" altLang="ko-KR" dirty="0" smtClean="0"/>
              <a:t> </a:t>
            </a:r>
            <a:r>
              <a:rPr lang="en-US" altLang="ko-KR" dirty="0"/>
              <a:t>  </a:t>
            </a:r>
            <a:r>
              <a:rPr lang="en-US" altLang="ko-KR" dirty="0" smtClean="0"/>
              <a:t>    </a:t>
            </a:r>
            <a:r>
              <a:rPr lang="en-US" altLang="ko-KR" dirty="0"/>
              <a:t>  1×1 </a:t>
            </a:r>
            <a:r>
              <a:rPr lang="en-US" altLang="ko-KR" dirty="0" err="1"/>
              <a:t>Conv</a:t>
            </a:r>
            <a:r>
              <a:rPr lang="en-US" altLang="ko-KR" dirty="0"/>
              <a:t>(</a:t>
            </a:r>
            <a:r>
              <a:rPr lang="en-US" altLang="ko-KR" dirty="0" err="1"/>
              <a:t>out_channels</a:t>
            </a:r>
            <a:r>
              <a:rPr lang="en-US" altLang="ko-KR" dirty="0"/>
              <a:t> = 3): [B, 67, 256, 256] → </a:t>
            </a:r>
            <a:r>
              <a:rPr lang="en-US" altLang="ko-KR" b="1" dirty="0">
                <a:solidFill>
                  <a:srgbClr val="FF0000"/>
                </a:solidFill>
              </a:rPr>
              <a:t>[B, 3, 256, 256</a:t>
            </a:r>
            <a:r>
              <a:rPr lang="en-US" altLang="ko-KR" b="1" dirty="0" smtClean="0">
                <a:solidFill>
                  <a:srgbClr val="FF0000"/>
                </a:solidFill>
              </a:rPr>
              <a:t>]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86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948324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905710"/>
            <a:ext cx="12192000" cy="23365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5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Noise Layer</a:t>
            </a:r>
          </a:p>
          <a:p>
            <a:pPr>
              <a:lnSpc>
                <a:spcPts val="2500"/>
              </a:lnSpc>
            </a:pPr>
            <a:r>
              <a:rPr lang="en-US" altLang="ko-KR" b="1" dirty="0" smtClean="0"/>
              <a:t>   1. Identity: </a:t>
            </a:r>
            <a:r>
              <a:rPr lang="en-US" altLang="ko-KR" dirty="0" err="1" smtClean="0"/>
              <a:t>I_en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그대로 활용 </a:t>
            </a:r>
            <a:endParaRPr lang="en-US" altLang="ko-KR" dirty="0" smtClean="0"/>
          </a:p>
          <a:p>
            <a:pPr>
              <a:lnSpc>
                <a:spcPts val="25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2. Dropout: </a:t>
            </a:r>
            <a:r>
              <a:rPr lang="ko-KR" altLang="en-US" dirty="0" smtClean="0"/>
              <a:t>일부 픽셀을 무작위로 </a:t>
            </a:r>
            <a:r>
              <a:rPr lang="en-US" altLang="ko-KR" dirty="0" err="1" smtClean="0"/>
              <a:t>I_en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I_co</a:t>
            </a:r>
            <a:r>
              <a:rPr lang="ko-KR" altLang="en-US" dirty="0" smtClean="0"/>
              <a:t>로 대체하는 방식</a:t>
            </a:r>
            <a:endParaRPr lang="en-US" altLang="ko-KR" dirty="0" smtClean="0"/>
          </a:p>
          <a:p>
            <a:pPr>
              <a:lnSpc>
                <a:spcPts val="25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3. </a:t>
            </a:r>
            <a:r>
              <a:rPr lang="en-US" altLang="ko-KR" b="1" dirty="0" err="1" smtClean="0"/>
              <a:t>Cropout</a:t>
            </a:r>
            <a:r>
              <a:rPr lang="en-US" altLang="ko-KR" b="1" dirty="0" smtClean="0"/>
              <a:t>: </a:t>
            </a:r>
            <a:r>
              <a:rPr lang="ko-KR" altLang="en-US" dirty="0" smtClean="0"/>
              <a:t>랜덤 위치의 패치 전체를 </a:t>
            </a:r>
            <a:r>
              <a:rPr lang="en-US" altLang="ko-KR" dirty="0" err="1" smtClean="0"/>
              <a:t>I_en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I_co</a:t>
            </a:r>
            <a:r>
              <a:rPr lang="ko-KR" altLang="en-US" dirty="0" smtClean="0"/>
              <a:t>로 대체하는 방식</a:t>
            </a:r>
            <a:endParaRPr lang="en-US" altLang="ko-KR" dirty="0" smtClean="0"/>
          </a:p>
          <a:p>
            <a:pPr>
              <a:lnSpc>
                <a:spcPts val="25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4. Crop: </a:t>
            </a:r>
            <a:r>
              <a:rPr lang="ko-KR" altLang="en-US" dirty="0" smtClean="0"/>
              <a:t>임의의 사각 영역을 잘라내기</a:t>
            </a:r>
            <a:endParaRPr lang="en-US" altLang="ko-KR" dirty="0" smtClean="0"/>
          </a:p>
          <a:p>
            <a:pPr>
              <a:lnSpc>
                <a:spcPts val="2500"/>
              </a:lnSpc>
            </a:pPr>
            <a:r>
              <a:rPr lang="en-US" altLang="ko-KR" b="1" dirty="0" smtClean="0"/>
              <a:t>   5. Gaussian: </a:t>
            </a:r>
            <a:r>
              <a:rPr lang="ko-KR" altLang="en-US" dirty="0" err="1" smtClean="0"/>
              <a:t>가우시안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블러로</a:t>
            </a:r>
            <a:r>
              <a:rPr lang="ko-KR" altLang="en-US" dirty="0" smtClean="0"/>
              <a:t> 이미지에 흐림 효과</a:t>
            </a:r>
            <a:endParaRPr lang="en-US" altLang="ko-KR" dirty="0" smtClean="0"/>
          </a:p>
          <a:p>
            <a:pPr>
              <a:lnSpc>
                <a:spcPts val="25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6. JPEG: </a:t>
            </a:r>
            <a:r>
              <a:rPr lang="ko-KR" altLang="en-US" dirty="0" smtClean="0"/>
              <a:t>실제 </a:t>
            </a:r>
            <a:r>
              <a:rPr lang="en-US" altLang="ko-KR" dirty="0" smtClean="0"/>
              <a:t>JPEG </a:t>
            </a:r>
            <a:r>
              <a:rPr lang="ko-KR" altLang="en-US" dirty="0" smtClean="0"/>
              <a:t>압축과 유사한 방식으로 주파수 도메인에 손실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2112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948324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896832"/>
            <a:ext cx="12192000" cy="28934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2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Decoder(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INPUT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I_no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H’, W’], 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OUTPUT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M_out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L] ) </a:t>
            </a:r>
          </a:p>
          <a:p>
            <a:pPr algn="just" fontAlgn="base">
              <a:lnSpc>
                <a:spcPts val="2200"/>
              </a:lnSpc>
            </a:pPr>
            <a:r>
              <a:rPr lang="en-US" altLang="ko-KR" b="1" dirty="0"/>
              <a:t>  </a:t>
            </a:r>
            <a:r>
              <a:rPr lang="en-US" altLang="ko-KR" b="1" dirty="0" smtClean="0"/>
              <a:t>Step 1 </a:t>
            </a:r>
            <a:r>
              <a:rPr lang="en-US" altLang="ko-KR" b="1" dirty="0"/>
              <a:t>: </a:t>
            </a:r>
            <a:r>
              <a:rPr lang="en-US" altLang="ko-KR" b="1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Conv</a:t>
            </a:r>
            <a:r>
              <a:rPr lang="en-US" altLang="ko-KR" b="1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Layer(8 blocks, 3x3 kernel, 1 stride, 1 padding)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 </a:t>
            </a:r>
            <a:r>
              <a:rPr lang="en-US" altLang="ko-KR" dirty="0" smtClean="0"/>
              <a:t>     </a:t>
            </a:r>
            <a:r>
              <a:rPr lang="en-US" altLang="ko-KR" dirty="0"/>
              <a:t>   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#1 : </a:t>
            </a:r>
            <a:r>
              <a:rPr lang="en-US" altLang="ko-KR" b="1" dirty="0">
                <a:solidFill>
                  <a:srgbClr val="FF0000"/>
                </a:solidFill>
              </a:rPr>
              <a:t>[B, 3, H', W'] </a:t>
            </a:r>
            <a:r>
              <a:rPr lang="en-US" altLang="ko-KR" dirty="0"/>
              <a:t>→ [B, 64, H', W']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     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#2 : </a:t>
            </a:r>
            <a:r>
              <a:rPr lang="en-US" altLang="ko-KR" dirty="0"/>
              <a:t>[B, 64, H', W'] → [B, 64, H', W']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   </a:t>
            </a:r>
            <a:r>
              <a:rPr lang="en-US" altLang="ko-KR" dirty="0" smtClean="0"/>
              <a:t>     </a:t>
            </a:r>
            <a:r>
              <a:rPr lang="en-US" altLang="ko-KR" dirty="0"/>
              <a:t> 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#3 : </a:t>
            </a:r>
            <a:r>
              <a:rPr lang="en-US" altLang="ko-KR" dirty="0"/>
              <a:t>[B, 64, H', W'] → [B, 64, H', W']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</a:t>
            </a:r>
            <a:r>
              <a:rPr lang="en-US" altLang="ko-KR" dirty="0" smtClean="0"/>
              <a:t>      </a:t>
            </a:r>
            <a:r>
              <a:rPr lang="en-US" altLang="ko-KR" dirty="0"/>
              <a:t>   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#4 : </a:t>
            </a:r>
            <a:r>
              <a:rPr lang="en-US" altLang="ko-KR" dirty="0"/>
              <a:t>[B, 64, H', W'] → [B, 64, H', W']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 </a:t>
            </a:r>
            <a:r>
              <a:rPr lang="en-US" altLang="ko-KR" dirty="0" smtClean="0"/>
              <a:t>     </a:t>
            </a:r>
            <a:r>
              <a:rPr lang="en-US" altLang="ko-KR" dirty="0"/>
              <a:t>   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#5 : </a:t>
            </a:r>
            <a:r>
              <a:rPr lang="en-US" altLang="ko-KR" dirty="0"/>
              <a:t>[B, 64, H', W'] → [B, 64, H', W']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 </a:t>
            </a:r>
            <a:r>
              <a:rPr lang="en-US" altLang="ko-KR" dirty="0" smtClean="0"/>
              <a:t>     </a:t>
            </a:r>
            <a:r>
              <a:rPr lang="en-US" altLang="ko-KR" dirty="0"/>
              <a:t>   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#6 : </a:t>
            </a:r>
            <a:r>
              <a:rPr lang="en-US" altLang="ko-KR" dirty="0"/>
              <a:t>[B, 64, H', W'] → [B, 64, H', W']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</a:t>
            </a:r>
            <a:r>
              <a:rPr lang="en-US" altLang="ko-KR" dirty="0" smtClean="0"/>
              <a:t>      </a:t>
            </a:r>
            <a:r>
              <a:rPr lang="en-US" altLang="ko-KR" dirty="0"/>
              <a:t>   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#7 : </a:t>
            </a:r>
            <a:r>
              <a:rPr lang="en-US" altLang="ko-KR" dirty="0"/>
              <a:t>[B, 64, H', W'] → [B, 64, H', W']</a:t>
            </a:r>
          </a:p>
          <a:p>
            <a:pPr>
              <a:lnSpc>
                <a:spcPts val="2200"/>
              </a:lnSpc>
            </a:pPr>
            <a:r>
              <a:rPr lang="en-US" altLang="ko-KR" dirty="0"/>
              <a:t>    </a:t>
            </a:r>
            <a:r>
              <a:rPr lang="en-US" altLang="ko-KR" dirty="0" smtClean="0"/>
              <a:t>     </a:t>
            </a:r>
            <a:r>
              <a:rPr lang="en-US" altLang="ko-KR" dirty="0"/>
              <a:t>    </a:t>
            </a:r>
            <a:r>
              <a:rPr lang="en-US" altLang="ko-KR" dirty="0" err="1" smtClean="0"/>
              <a:t>Conv</a:t>
            </a:r>
            <a:r>
              <a:rPr lang="en-US" altLang="ko-KR" dirty="0" smtClean="0"/>
              <a:t>-BN-</a:t>
            </a:r>
            <a:r>
              <a:rPr lang="en-US" altLang="ko-KR" dirty="0" err="1" smtClean="0"/>
              <a:t>ReLU</a:t>
            </a:r>
            <a:r>
              <a:rPr lang="en-US" altLang="ko-KR" dirty="0" smtClean="0"/>
              <a:t> #8 : </a:t>
            </a:r>
            <a:r>
              <a:rPr lang="en-US" altLang="ko-KR" dirty="0"/>
              <a:t>[B, 64, H', W'] → </a:t>
            </a:r>
            <a:r>
              <a:rPr lang="en-US" altLang="ko-KR" b="1" dirty="0">
                <a:solidFill>
                  <a:srgbClr val="FF0000"/>
                </a:solidFill>
              </a:rPr>
              <a:t>[B, </a:t>
            </a:r>
            <a:r>
              <a:rPr lang="en-US" altLang="ko-KR" b="1" dirty="0" smtClean="0">
                <a:solidFill>
                  <a:srgbClr val="FF0000"/>
                </a:solidFill>
              </a:rPr>
              <a:t>L, </a:t>
            </a:r>
            <a:r>
              <a:rPr lang="en-US" altLang="ko-KR" b="1" dirty="0">
                <a:solidFill>
                  <a:srgbClr val="FF0000"/>
                </a:solidFill>
              </a:rPr>
              <a:t>H', W</a:t>
            </a:r>
            <a:r>
              <a:rPr lang="en-US" altLang="ko-KR" b="1" dirty="0" smtClean="0">
                <a:solidFill>
                  <a:srgbClr val="FF0000"/>
                </a:solidFill>
              </a:rPr>
              <a:t>']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691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948324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905710"/>
            <a:ext cx="12192000" cy="201593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5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Decoder(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INPUT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I_no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H’, W’], 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OUTPUT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M_out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L] ) </a:t>
            </a:r>
          </a:p>
          <a:p>
            <a:pPr>
              <a:lnSpc>
                <a:spcPts val="2500"/>
              </a:lnSpc>
            </a:pPr>
            <a:r>
              <a:rPr lang="en-US" altLang="ko-KR" b="1" dirty="0"/>
              <a:t>  </a:t>
            </a:r>
            <a:r>
              <a:rPr lang="en-US" altLang="ko-KR" b="1" dirty="0" smtClean="0"/>
              <a:t>Step 2: </a:t>
            </a:r>
            <a:r>
              <a:rPr lang="en-US" altLang="ko-KR" dirty="0" err="1" smtClean="0"/>
              <a:t>AdaptiveAvgPool</a:t>
            </a:r>
            <a:endParaRPr lang="en-US" altLang="ko-KR" dirty="0"/>
          </a:p>
          <a:p>
            <a:pPr>
              <a:lnSpc>
                <a:spcPts val="2500"/>
              </a:lnSpc>
            </a:pPr>
            <a:r>
              <a:rPr lang="en-US" altLang="ko-KR" dirty="0"/>
              <a:t>  </a:t>
            </a:r>
            <a:r>
              <a:rPr lang="en-US" altLang="ko-KR" dirty="0" smtClean="0"/>
              <a:t>          [B</a:t>
            </a:r>
            <a:r>
              <a:rPr lang="en-US" altLang="ko-KR" dirty="0"/>
              <a:t>, </a:t>
            </a:r>
            <a:r>
              <a:rPr lang="en-US" altLang="ko-KR" dirty="0" smtClean="0"/>
              <a:t>L, H’, W’] </a:t>
            </a:r>
            <a:r>
              <a:rPr lang="en-US" altLang="ko-KR" dirty="0"/>
              <a:t>→ </a:t>
            </a:r>
            <a:r>
              <a:rPr lang="en-US" altLang="ko-KR" b="1" dirty="0">
                <a:solidFill>
                  <a:srgbClr val="FF0000"/>
                </a:solidFill>
              </a:rPr>
              <a:t>[B, L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en-US" altLang="ko-KR" b="1" dirty="0">
                <a:solidFill>
                  <a:srgbClr val="FF0000"/>
                </a:solidFill>
              </a:rPr>
              <a:t>1, </a:t>
            </a:r>
            <a:r>
              <a:rPr lang="en-US" altLang="ko-KR" b="1" dirty="0" smtClean="0">
                <a:solidFill>
                  <a:srgbClr val="FF0000"/>
                </a:solidFill>
              </a:rPr>
              <a:t>1]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dirty="0"/>
              <a:t> </a:t>
            </a:r>
            <a:r>
              <a:rPr lang="en-US" altLang="ko-KR" dirty="0" smtClean="0"/>
              <a:t> </a:t>
            </a:r>
            <a:r>
              <a:rPr lang="en-US" altLang="ko-KR" b="1" dirty="0" smtClean="0"/>
              <a:t>Step 3: </a:t>
            </a:r>
            <a:r>
              <a:rPr lang="en-US" altLang="ko-KR" b="1" dirty="0"/>
              <a:t>Squeeze + </a:t>
            </a:r>
            <a:r>
              <a:rPr lang="en-US" altLang="ko-KR" b="1" dirty="0" smtClean="0"/>
              <a:t>FC </a:t>
            </a:r>
            <a:r>
              <a:rPr lang="en-US" altLang="ko-KR" b="1" dirty="0" smtClean="0"/>
              <a:t>layer</a:t>
            </a:r>
            <a:endParaRPr lang="en-US" altLang="ko-KR" b="1" dirty="0"/>
          </a:p>
          <a:p>
            <a:pPr>
              <a:lnSpc>
                <a:spcPts val="2500"/>
              </a:lnSpc>
            </a:pPr>
            <a:r>
              <a:rPr lang="en-US" altLang="ko-KR" dirty="0"/>
              <a:t>       </a:t>
            </a:r>
            <a:r>
              <a:rPr lang="en-US" altLang="ko-KR" dirty="0" smtClean="0"/>
              <a:t>     </a:t>
            </a:r>
            <a:r>
              <a:rPr lang="en-US" altLang="ko-KR" dirty="0"/>
              <a:t>squeeze: [B, </a:t>
            </a:r>
            <a:r>
              <a:rPr lang="en-US" altLang="ko-KR" dirty="0" smtClean="0"/>
              <a:t>L, </a:t>
            </a:r>
            <a:r>
              <a:rPr lang="en-US" altLang="ko-KR" dirty="0"/>
              <a:t>1, 1] → </a:t>
            </a:r>
            <a:r>
              <a:rPr lang="en-US" altLang="ko-KR" b="1" dirty="0">
                <a:solidFill>
                  <a:srgbClr val="FF0000"/>
                </a:solidFill>
              </a:rPr>
              <a:t>[B, </a:t>
            </a:r>
            <a:r>
              <a:rPr lang="en-US" altLang="ko-KR" b="1" dirty="0" smtClean="0">
                <a:solidFill>
                  <a:srgbClr val="FF0000"/>
                </a:solidFill>
              </a:rPr>
              <a:t>L]</a:t>
            </a:r>
            <a:endParaRPr lang="en-US" altLang="ko-KR" b="1" dirty="0">
              <a:solidFill>
                <a:srgbClr val="FF0000"/>
              </a:solidFill>
            </a:endParaRPr>
          </a:p>
          <a:p>
            <a:pPr>
              <a:lnSpc>
                <a:spcPts val="2500"/>
              </a:lnSpc>
            </a:pPr>
            <a:r>
              <a:rPr lang="en-US" altLang="ko-KR" dirty="0"/>
              <a:t>       </a:t>
            </a:r>
            <a:r>
              <a:rPr lang="en-US" altLang="ko-KR" dirty="0" smtClean="0"/>
              <a:t>     FC </a:t>
            </a:r>
            <a:r>
              <a:rPr lang="en-US" altLang="ko-KR" dirty="0" smtClean="0"/>
              <a:t>layer: </a:t>
            </a:r>
            <a:r>
              <a:rPr lang="en-US" altLang="ko-KR" dirty="0"/>
              <a:t> [B, 30] → </a:t>
            </a:r>
            <a:r>
              <a:rPr lang="en-US" altLang="ko-KR" b="1" dirty="0">
                <a:solidFill>
                  <a:srgbClr val="FF0000"/>
                </a:solidFill>
              </a:rPr>
              <a:t>[B, 30]</a:t>
            </a:r>
          </a:p>
        </p:txBody>
      </p:sp>
    </p:spTree>
    <p:extLst>
      <p:ext uri="{BB962C8B-B14F-4D97-AF65-F5344CB8AC3E}">
        <p14:creationId xmlns:p14="http://schemas.microsoft.com/office/powerpoint/2010/main" val="1497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858000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905710"/>
            <a:ext cx="12192000" cy="2826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7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Adversary(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INPUT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I_co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H, W],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I_no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[B, 3, H’, W’],  </a:t>
            </a:r>
            <a:r>
              <a:rPr lang="en-US" altLang="ko-KR" b="1" kern="0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OUTPUT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0(Encoded), 1(cover)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</a:p>
          <a:p>
            <a:pPr>
              <a:lnSpc>
                <a:spcPts val="2700"/>
              </a:lnSpc>
            </a:pPr>
            <a:r>
              <a:rPr lang="en-US" altLang="ko-KR" b="1" dirty="0"/>
              <a:t> </a:t>
            </a:r>
            <a:r>
              <a:rPr lang="en-US" altLang="ko-KR" b="1" dirty="0" smtClean="0"/>
              <a:t> </a:t>
            </a:r>
            <a:r>
              <a:rPr lang="en-US" altLang="ko-KR" b="1" dirty="0"/>
              <a:t>Step : </a:t>
            </a:r>
            <a:r>
              <a:rPr lang="en-US" altLang="ko-KR" b="1" dirty="0" err="1"/>
              <a:t>Conv</a:t>
            </a:r>
            <a:r>
              <a:rPr lang="en-US" altLang="ko-KR" b="1" dirty="0"/>
              <a:t> </a:t>
            </a:r>
            <a:r>
              <a:rPr lang="en-US" altLang="ko-KR" b="1" dirty="0" smtClean="0"/>
              <a:t>Layer </a:t>
            </a:r>
            <a:r>
              <a:rPr lang="en-US" altLang="ko-KR" b="1" dirty="0"/>
              <a:t>+ </a:t>
            </a:r>
            <a:r>
              <a:rPr lang="en-US" altLang="ko-KR" b="1" dirty="0" err="1"/>
              <a:t>AdaptiveAvgPool</a:t>
            </a:r>
            <a:r>
              <a:rPr lang="en-US" altLang="ko-KR" b="1" dirty="0" smtClean="0"/>
              <a:t> </a:t>
            </a:r>
            <a:r>
              <a:rPr lang="en-US" altLang="ko-KR" b="1" dirty="0"/>
              <a:t>+ classifier</a:t>
            </a:r>
          </a:p>
          <a:p>
            <a:pPr>
              <a:lnSpc>
                <a:spcPts val="2700"/>
              </a:lnSpc>
            </a:pPr>
            <a:r>
              <a:rPr lang="en-US" altLang="ko-KR" dirty="0"/>
              <a:t>      </a:t>
            </a:r>
            <a:r>
              <a:rPr lang="en-US" altLang="ko-KR" dirty="0" smtClean="0"/>
              <a:t>   </a:t>
            </a:r>
            <a:r>
              <a:rPr lang="en-US" altLang="ko-KR" dirty="0"/>
              <a:t>  </a:t>
            </a:r>
            <a:r>
              <a:rPr lang="en-US" altLang="ko-KR" dirty="0" err="1"/>
              <a:t>Conv</a:t>
            </a:r>
            <a:r>
              <a:rPr lang="en-US" altLang="ko-KR" dirty="0"/>
              <a:t>-BN-</a:t>
            </a:r>
            <a:r>
              <a:rPr lang="en-US" altLang="ko-KR" dirty="0" err="1"/>
              <a:t>ReLU</a:t>
            </a:r>
            <a:r>
              <a:rPr lang="en-US" altLang="ko-KR" dirty="0"/>
              <a:t> #1: </a:t>
            </a:r>
            <a:r>
              <a:rPr lang="en-US" altLang="ko-KR" b="1" dirty="0">
                <a:solidFill>
                  <a:srgbClr val="FF0000"/>
                </a:solidFill>
              </a:rPr>
              <a:t>[B, 3, H, W</a:t>
            </a:r>
            <a:r>
              <a:rPr lang="en-US" altLang="ko-KR" b="1" dirty="0" smtClean="0">
                <a:solidFill>
                  <a:srgbClr val="FF0000"/>
                </a:solidFill>
              </a:rPr>
              <a:t>]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→ </a:t>
            </a:r>
            <a:r>
              <a:rPr lang="en-US" altLang="ko-KR" dirty="0" smtClean="0"/>
              <a:t>[</a:t>
            </a:r>
            <a:r>
              <a:rPr lang="en-US" altLang="ko-KR" dirty="0"/>
              <a:t>B, 64, H, W]</a:t>
            </a:r>
          </a:p>
          <a:p>
            <a:pPr>
              <a:lnSpc>
                <a:spcPts val="2700"/>
              </a:lnSpc>
            </a:pPr>
            <a:r>
              <a:rPr lang="en-US" altLang="ko-KR" dirty="0"/>
              <a:t>       </a:t>
            </a:r>
            <a:r>
              <a:rPr lang="en-US" altLang="ko-KR" dirty="0" smtClean="0"/>
              <a:t>    </a:t>
            </a:r>
            <a:r>
              <a:rPr lang="en-US" altLang="ko-KR" dirty="0" err="1"/>
              <a:t>Conv</a:t>
            </a:r>
            <a:r>
              <a:rPr lang="en-US" altLang="ko-KR" dirty="0"/>
              <a:t>-BN-</a:t>
            </a:r>
            <a:r>
              <a:rPr lang="en-US" altLang="ko-KR" dirty="0" err="1"/>
              <a:t>ReLU</a:t>
            </a:r>
            <a:r>
              <a:rPr lang="en-US" altLang="ko-KR" dirty="0"/>
              <a:t> #2: [B, 64, H, W</a:t>
            </a:r>
            <a:r>
              <a:rPr lang="en-US" altLang="ko-KR" dirty="0" smtClean="0"/>
              <a:t>]</a:t>
            </a:r>
            <a:r>
              <a:rPr lang="en-US" altLang="ko-KR" dirty="0"/>
              <a:t> → [B, 64, H, W]</a:t>
            </a:r>
            <a:endParaRPr lang="en-US" altLang="ko-KR" dirty="0"/>
          </a:p>
          <a:p>
            <a:pPr>
              <a:lnSpc>
                <a:spcPts val="2700"/>
              </a:lnSpc>
            </a:pPr>
            <a:r>
              <a:rPr lang="en-US" altLang="ko-KR" dirty="0"/>
              <a:t>       </a:t>
            </a:r>
            <a:r>
              <a:rPr lang="en-US" altLang="ko-KR" dirty="0" smtClean="0"/>
              <a:t>    </a:t>
            </a:r>
            <a:r>
              <a:rPr lang="en-US" altLang="ko-KR" dirty="0" err="1"/>
              <a:t>Conv</a:t>
            </a:r>
            <a:r>
              <a:rPr lang="en-US" altLang="ko-KR" dirty="0"/>
              <a:t>-BN-</a:t>
            </a:r>
            <a:r>
              <a:rPr lang="en-US" altLang="ko-KR" dirty="0" err="1"/>
              <a:t>ReLU</a:t>
            </a:r>
            <a:r>
              <a:rPr lang="en-US" altLang="ko-KR" dirty="0"/>
              <a:t> #3: [B, 64, H, W</a:t>
            </a:r>
            <a:r>
              <a:rPr lang="en-US" altLang="ko-KR" dirty="0" smtClean="0"/>
              <a:t>]</a:t>
            </a:r>
            <a:r>
              <a:rPr lang="en-US" altLang="ko-KR" dirty="0"/>
              <a:t> → [B, 64, H, W]</a:t>
            </a:r>
            <a:endParaRPr lang="en-US" altLang="ko-KR" dirty="0"/>
          </a:p>
          <a:p>
            <a:pPr>
              <a:lnSpc>
                <a:spcPts val="2700"/>
              </a:lnSpc>
            </a:pPr>
            <a:r>
              <a:rPr lang="en-US" altLang="ko-KR" dirty="0"/>
              <a:t>      </a:t>
            </a:r>
            <a:r>
              <a:rPr lang="en-US" altLang="ko-KR" dirty="0" smtClean="0"/>
              <a:t>  </a:t>
            </a:r>
            <a:r>
              <a:rPr lang="en-US" altLang="ko-KR" dirty="0"/>
              <a:t> 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AdaptiveAvgPool</a:t>
            </a:r>
            <a:r>
              <a:rPr lang="en-US" altLang="ko-KR" dirty="0" smtClean="0"/>
              <a:t>: </a:t>
            </a:r>
            <a:r>
              <a:rPr lang="en-US" altLang="ko-KR" dirty="0"/>
              <a:t>[B, 64, H, W] → </a:t>
            </a:r>
            <a:r>
              <a:rPr lang="en-US" altLang="ko-KR" dirty="0" smtClean="0"/>
              <a:t>[</a:t>
            </a:r>
            <a:r>
              <a:rPr lang="en-US" altLang="ko-KR" dirty="0"/>
              <a:t>B, </a:t>
            </a:r>
            <a:r>
              <a:rPr lang="en-US" altLang="ko-KR" dirty="0" smtClean="0"/>
              <a:t>64, 1, 1]</a:t>
            </a:r>
          </a:p>
          <a:p>
            <a:pPr>
              <a:lnSpc>
                <a:spcPts val="2700"/>
              </a:lnSpc>
            </a:pPr>
            <a:r>
              <a:rPr lang="en-US" altLang="ko-KR" dirty="0" smtClean="0"/>
              <a:t>           Squeeze: [</a:t>
            </a:r>
            <a:r>
              <a:rPr lang="en-US" altLang="ko-KR" dirty="0"/>
              <a:t>B, 64, 1, 1</a:t>
            </a:r>
            <a:r>
              <a:rPr lang="en-US" altLang="ko-KR" dirty="0" smtClean="0"/>
              <a:t>]</a:t>
            </a:r>
            <a:r>
              <a:rPr lang="en-US" altLang="ko-KR" dirty="0"/>
              <a:t> → [B, </a:t>
            </a:r>
            <a:r>
              <a:rPr lang="en-US" altLang="ko-KR" dirty="0" smtClean="0"/>
              <a:t>64]</a:t>
            </a:r>
            <a:endParaRPr lang="en-US" altLang="ko-KR" dirty="0"/>
          </a:p>
          <a:p>
            <a:pPr>
              <a:lnSpc>
                <a:spcPts val="2700"/>
              </a:lnSpc>
            </a:pPr>
            <a:r>
              <a:rPr lang="en-US" altLang="ko-KR" dirty="0"/>
              <a:t>      </a:t>
            </a:r>
            <a:r>
              <a:rPr lang="en-US" altLang="ko-KR" dirty="0" smtClean="0"/>
              <a:t>   </a:t>
            </a:r>
            <a:r>
              <a:rPr lang="en-US" altLang="ko-KR" dirty="0"/>
              <a:t>  </a:t>
            </a:r>
            <a:r>
              <a:rPr lang="en-US" altLang="ko-KR" dirty="0" smtClean="0"/>
              <a:t>FC layer: [</a:t>
            </a:r>
            <a:r>
              <a:rPr lang="en-US" altLang="ko-KR" dirty="0"/>
              <a:t>B, 64</a:t>
            </a:r>
            <a:r>
              <a:rPr lang="en-US" altLang="ko-KR" dirty="0" smtClean="0"/>
              <a:t>]</a:t>
            </a:r>
            <a:r>
              <a:rPr lang="en-US" altLang="ko-KR" dirty="0"/>
              <a:t> → </a:t>
            </a:r>
            <a:r>
              <a:rPr lang="en-US" altLang="ko-KR" b="1" dirty="0" smtClean="0">
                <a:solidFill>
                  <a:srgbClr val="FF0000"/>
                </a:solidFill>
              </a:rPr>
              <a:t>[</a:t>
            </a:r>
            <a:r>
              <a:rPr lang="en-US" altLang="ko-KR" b="1" dirty="0">
                <a:solidFill>
                  <a:srgbClr val="FF0000"/>
                </a:solidFill>
              </a:rPr>
              <a:t>B, 1]</a:t>
            </a:r>
          </a:p>
        </p:txBody>
      </p:sp>
    </p:spTree>
    <p:extLst>
      <p:ext uri="{BB962C8B-B14F-4D97-AF65-F5344CB8AC3E}">
        <p14:creationId xmlns:p14="http://schemas.microsoft.com/office/powerpoint/2010/main" val="355848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858000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905710"/>
            <a:ext cx="12192000" cy="4312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3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Loss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68" y="4408334"/>
            <a:ext cx="8364117" cy="5144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89" y="4922756"/>
            <a:ext cx="4772691" cy="9621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962" y="5914974"/>
            <a:ext cx="3848637" cy="67636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14" y="4994172"/>
            <a:ext cx="3993479" cy="92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0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948324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Architecture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72" y="952548"/>
            <a:ext cx="9907383" cy="2953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3905710"/>
            <a:ext cx="12192000" cy="4312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30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Loss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7" y="4453496"/>
            <a:ext cx="6677957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4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101244"/>
              </p:ext>
            </p:extLst>
          </p:nvPr>
        </p:nvGraphicFramePr>
        <p:xfrm>
          <a:off x="0" y="27432"/>
          <a:ext cx="12192000" cy="6858000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Experimental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Results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69" y="1014408"/>
            <a:ext cx="8873826" cy="34459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4460397"/>
            <a:ext cx="12192000" cy="182357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• PSNR(Y), PSNR(U), PSNR(V)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는 각각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YUV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색상 공간의 밝기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(Y)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채널과 색상 차원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(U, V)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채널 간의 </a:t>
            </a:r>
            <a:r>
              <a:rPr lang="ko-KR" altLang="en-US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유사도를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나타냄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dirty="0" smtClean="0"/>
              <a:t>왼쪽 </a:t>
            </a:r>
            <a:r>
              <a:rPr lang="ko-KR" altLang="en-US" dirty="0"/>
              <a:t>부분은 </a:t>
            </a:r>
            <a:r>
              <a:rPr lang="en-US" altLang="ko-KR" dirty="0" smtClean="0"/>
              <a:t>cover</a:t>
            </a:r>
            <a:r>
              <a:rPr lang="ko-KR" altLang="en-US" dirty="0" smtClean="0"/>
              <a:t> </a:t>
            </a:r>
            <a:r>
              <a:rPr lang="en-US" altLang="ko-KR" dirty="0" smtClean="0"/>
              <a:t>image, </a:t>
            </a:r>
            <a:r>
              <a:rPr lang="en-US" altLang="ko-KR" dirty="0" err="1" smtClean="0"/>
              <a:t>Digimarc</a:t>
            </a:r>
            <a:r>
              <a:rPr lang="en-US" altLang="ko-KR" dirty="0" smtClean="0"/>
              <a:t> </a:t>
            </a:r>
            <a:r>
              <a:rPr lang="ko-KR" altLang="en-US" dirty="0" smtClean="0"/>
              <a:t>방식 </a:t>
            </a:r>
            <a:r>
              <a:rPr lang="ko-KR" altLang="en-US" dirty="0" err="1" smtClean="0"/>
              <a:t>워터마킹</a:t>
            </a:r>
            <a:r>
              <a:rPr lang="ko-KR" altLang="en-US" dirty="0" smtClean="0"/>
              <a:t> </a:t>
            </a:r>
            <a:r>
              <a:rPr lang="en-US" altLang="ko-KR" dirty="0" smtClean="0"/>
              <a:t>image </a:t>
            </a:r>
            <a:r>
              <a:rPr lang="ko-KR" altLang="en-US" dirty="0" smtClean="0"/>
              <a:t>비교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학습 </a:t>
            </a:r>
            <a:r>
              <a:rPr lang="ko-KR" altLang="en-US" dirty="0"/>
              <a:t>시 </a:t>
            </a:r>
            <a:r>
              <a:rPr lang="en-US" altLang="ko-KR" dirty="0"/>
              <a:t>adversary(</a:t>
            </a:r>
            <a:r>
              <a:rPr lang="ko-KR" altLang="en-US" dirty="0"/>
              <a:t>적대자</a:t>
            </a:r>
            <a:r>
              <a:rPr lang="en-US" altLang="ko-KR" dirty="0"/>
              <a:t>)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학습한</a:t>
            </a:r>
            <a:endParaRPr lang="en-US" altLang="ko-KR" dirty="0" smtClean="0"/>
          </a:p>
          <a:p>
            <a:pPr algn="just" fontAlgn="base">
              <a:lnSpc>
                <a:spcPts val="27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여러 </a:t>
            </a:r>
            <a:r>
              <a:rPr lang="en-US" altLang="ko-KR" dirty="0" smtClean="0"/>
              <a:t>noise </a:t>
            </a:r>
            <a:r>
              <a:rPr lang="ko-KR" altLang="en-US" dirty="0" smtClean="0"/>
              <a:t>학습 모델의 </a:t>
            </a:r>
            <a:r>
              <a:rPr lang="en-US" altLang="ko-KR" dirty="0" err="1" smtClean="0"/>
              <a:t>I_en</a:t>
            </a:r>
            <a:r>
              <a:rPr lang="ko-KR" altLang="en-US" dirty="0" smtClean="0"/>
              <a:t> </a:t>
            </a:r>
            <a:r>
              <a:rPr lang="ko-KR" altLang="en-US" dirty="0"/>
              <a:t>이미지들을 </a:t>
            </a:r>
            <a:r>
              <a:rPr lang="ko-KR" altLang="en-US" dirty="0" smtClean="0"/>
              <a:t>비교</a:t>
            </a:r>
            <a:endParaRPr lang="en-US" altLang="ko-KR" dirty="0" smtClean="0"/>
          </a:p>
          <a:p>
            <a:pPr algn="just" fontAlgn="base">
              <a:lnSpc>
                <a:spcPts val="27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en-US" altLang="ko-KR" dirty="0" smtClean="0"/>
              <a:t>“</a:t>
            </a:r>
            <a:r>
              <a:rPr lang="en-US" altLang="ko-KR" dirty="0"/>
              <a:t>Trained with Adversary</a:t>
            </a:r>
            <a:r>
              <a:rPr lang="en-US" altLang="ko-KR" dirty="0" smtClean="0"/>
              <a:t>”</a:t>
            </a:r>
            <a:r>
              <a:rPr lang="en-US" altLang="ko-KR" dirty="0"/>
              <a:t>:</a:t>
            </a:r>
            <a:r>
              <a:rPr lang="ko-KR" altLang="en-US" dirty="0" smtClean="0"/>
              <a:t> </a:t>
            </a:r>
            <a:r>
              <a:rPr lang="en-US" altLang="ko-KR" dirty="0"/>
              <a:t>adversary</a:t>
            </a:r>
            <a:r>
              <a:rPr lang="ko-KR" altLang="en-US" dirty="0"/>
              <a:t>를 활용해 학습한 </a:t>
            </a:r>
            <a:r>
              <a:rPr lang="en-US" altLang="ko-KR" dirty="0"/>
              <a:t>Crop, Gaussian, Combined </a:t>
            </a:r>
            <a:r>
              <a:rPr lang="ko-KR" altLang="en-US" dirty="0" smtClean="0"/>
              <a:t>학습 결과</a:t>
            </a:r>
            <a:endParaRPr lang="en-US" altLang="ko-KR" dirty="0" smtClean="0"/>
          </a:p>
          <a:p>
            <a:pPr algn="just" fontAlgn="base">
              <a:lnSpc>
                <a:spcPts val="27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“</a:t>
            </a:r>
            <a:r>
              <a:rPr lang="en-US" altLang="ko-KR" dirty="0"/>
              <a:t>No Adversary</a:t>
            </a:r>
            <a:r>
              <a:rPr lang="en-US" altLang="ko-KR" dirty="0" smtClean="0"/>
              <a:t>”:</a:t>
            </a:r>
            <a:r>
              <a:rPr lang="ko-KR" altLang="en-US" dirty="0" smtClean="0"/>
              <a:t> </a:t>
            </a:r>
            <a:r>
              <a:rPr lang="en-US" altLang="ko-KR" dirty="0"/>
              <a:t>adversary </a:t>
            </a:r>
            <a:r>
              <a:rPr lang="ko-KR" altLang="en-US" dirty="0"/>
              <a:t>없이 학습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635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0" y="27432"/>
          <a:ext cx="12192000" cy="6858000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Experimental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Results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4460397"/>
            <a:ext cx="12192000" cy="21698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• Specialized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모델의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높은 비트 정확도는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특정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noise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훈련 과정에 도입될 때 모델이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해당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noise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robust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하게 학습</a:t>
            </a:r>
            <a:endParaRPr lang="en-US" altLang="ko-KR" kern="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할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수 있음을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보여줌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특히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noise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없이 훈련된 모델은 실제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JPEG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압축에 대해 테스트했을 때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50%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의 비트 정확도를 </a:t>
            </a:r>
            <a:endParaRPr lang="en-US" altLang="ko-KR" kern="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보이지만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시뮬레이션된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JPEG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compression noise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로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훈련했을 때는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85%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로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향상</a:t>
            </a:r>
            <a:endParaRPr lang="en-US" altLang="ko-KR" kern="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대부분의 경우 모든 유형의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noise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로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훈련된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Combined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모델이 더 넓은 일반성에도 불구하고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specialized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모델과</a:t>
            </a:r>
            <a:endParaRPr lang="en-US" altLang="ko-KR" kern="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경쟁력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있는 성능을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보임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예를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들어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Cropout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에 대해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94%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의 정확도를 달성하는데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이는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specialized 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모델의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97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%</a:t>
            </a:r>
          </a:p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정확도에 가까움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87" y="1108769"/>
            <a:ext cx="7892794" cy="29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0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098595"/>
              </p:ext>
            </p:extLst>
          </p:nvPr>
        </p:nvGraphicFramePr>
        <p:xfrm>
          <a:off x="0" y="27432"/>
          <a:ext cx="12192000" cy="6858000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45896143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Conclusion</a:t>
                      </a:r>
                      <a:endParaRPr lang="en-US" sz="36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048845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50292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3014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1158397"/>
            <a:ext cx="12192000" cy="25160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fontAlgn="base">
              <a:lnSpc>
                <a:spcPts val="27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End-to-End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학습을 통한 최초의 </a:t>
            </a:r>
            <a:r>
              <a:rPr lang="ko-KR" altLang="en-US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딥러닝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워터마킹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프레임워크</a:t>
            </a:r>
            <a:endParaRPr lang="en-US" altLang="ko-KR" kern="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endParaRPr lang="en-US" altLang="ko-KR" kern="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다양한 유형의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noise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robustness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확인</a:t>
            </a:r>
            <a:endParaRPr lang="en-US" altLang="ko-KR" kern="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endParaRPr lang="en-US" altLang="ko-KR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Message </a:t>
            </a:r>
            <a:r>
              <a:rPr lang="en-US" altLang="ko-KR" kern="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payloa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PSNR/Robustness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간의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trade-off</a:t>
            </a:r>
          </a:p>
          <a:p>
            <a:pPr algn="just" fontAlgn="base">
              <a:lnSpc>
                <a:spcPts val="2700"/>
              </a:lnSpc>
            </a:pPr>
            <a:endParaRPr lang="en-US" altLang="ko-KR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just" fontAlgn="base">
              <a:lnSpc>
                <a:spcPts val="2700"/>
              </a:lnSpc>
            </a:pP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학습에 이용되지 않은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noise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유형에 대한 </a:t>
            </a:r>
            <a:r>
              <a:rPr lang="en-US" altLang="ko-KR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robustness </a:t>
            </a:r>
            <a:r>
              <a:rPr lang="ko-KR" altLang="en-US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저하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596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42674"/>
              </p:ext>
            </p:extLst>
          </p:nvPr>
        </p:nvGraphicFramePr>
        <p:xfrm>
          <a:off x="0" y="-1"/>
          <a:ext cx="12191999" cy="6858000"/>
        </p:xfrm>
        <a:graphic>
          <a:graphicData uri="http://schemas.openxmlformats.org/drawingml/2006/table">
            <a:tbl>
              <a:tblPr/>
              <a:tblGrid>
                <a:gridCol w="12191999">
                  <a:extLst>
                    <a:ext uri="{9D8B030D-6E8A-4147-A177-3AD203B41FA5}">
                      <a16:colId xmlns:a16="http://schemas.microsoft.com/office/drawing/2014/main" val="1536117364"/>
                    </a:ext>
                  </a:extLst>
                </a:gridCol>
              </a:tblGrid>
              <a:tr h="3429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RivaGAN</a:t>
                      </a:r>
                      <a:endParaRPr lang="en-US" sz="4000" b="1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40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arXiv</a:t>
                      </a:r>
                      <a:r>
                        <a:rPr lang="en-US" sz="40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40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2019</a:t>
                      </a:r>
                      <a:r>
                        <a:rPr lang="en-US" sz="40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760" marR="60760" marT="16798" marB="16798" anchor="ctr">
                    <a:lnL>
                      <a:noFill/>
                    </a:lnL>
                    <a:lnR>
                      <a:noFill/>
                    </a:lnR>
                    <a:lnT w="43180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806371"/>
                  </a:ext>
                </a:extLst>
              </a:tr>
              <a:tr h="3429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900" b="1" kern="0" spc="0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MMLAB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760" marR="60760" marT="16798" marB="167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9263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8428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7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862858"/>
              </p:ext>
            </p:extLst>
          </p:nvPr>
        </p:nvGraphicFramePr>
        <p:xfrm>
          <a:off x="0" y="0"/>
          <a:ext cx="12192000" cy="6895675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028018704"/>
                    </a:ext>
                  </a:extLst>
                </a:gridCol>
              </a:tblGrid>
              <a:tr h="74056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연구배경</a:t>
                      </a:r>
                      <a:endParaRPr lang="ko-KR" altLang="en-US" sz="3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92" marR="37292" marT="10310" marB="10310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817221"/>
                  </a:ext>
                </a:extLst>
              </a:tr>
              <a:tr h="611743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워터마킹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방식은 가시성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(invisibility)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강인성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(robustness)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동시에 달성하기 어려웠으며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특히 동영상에서는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800" kern="0" spc="0" dirty="0" smtClean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간의 시간적 일관성 때문에 더욱 복잡한 문제가 발생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</a:t>
                      </a:r>
                      <a:r>
                        <a:rPr lang="en-US" altLang="ko-KR" sz="18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-2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 </a:t>
                      </a:r>
                      <a:r>
                        <a:rPr lang="ko-KR" altLang="en-US" sz="1800" kern="0" spc="-2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워터마킹</a:t>
                      </a:r>
                      <a:r>
                        <a:rPr lang="en-US" altLang="ko-KR" sz="1800" kern="0" spc="-2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(Video Watermarking) </a:t>
                      </a:r>
                      <a:r>
                        <a:rPr lang="ko-KR" altLang="en-US" sz="1800" kern="0" spc="-2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기술을 다루며</a:t>
                      </a:r>
                      <a:r>
                        <a:rPr lang="en-US" altLang="ko-KR" sz="1800" kern="0" spc="-2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-2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시청 품질에 영향을 주지 않으면서도 비디오 수정이나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재배포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후에도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워터마크를 복원할 수 있는 방법을 제안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en-US" altLang="ko-KR" sz="1800" b="1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</a:t>
                      </a: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obust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01600" marR="0" indent="-10160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비디오가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압축되거나 자르기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(cropping),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스케일링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(scaling)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되어도 워터마크가 손상되지 않게 설계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</a:t>
                      </a: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nvisible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01600" marR="0" indent="-10160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시각적으로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전혀 티가 나지 않는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비가시성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(invisibility)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목표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V</a:t>
                      </a: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ideo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01600" marR="0" indent="-10160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정적인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이미지가 아닌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시간적 일관성을 가진 비디오 시퀀스 전체에 워터마크를 삽입하는 기술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A</a:t>
                      </a: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ttention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01600" marR="0" indent="-10160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기존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CNN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워터마킹과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달리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픽셀별로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어떤 비트에 집중할지 학습하는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Attention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메커니즘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사용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→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내의 질감이나 객체 구조에 따라 효율적으로 데이터가 은닉됨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GAN</a:t>
                      </a:r>
                      <a:r>
                        <a:rPr lang="ko-KR" altLang="en-US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(Generative Adversarial Network)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01600" marR="0" indent="-10160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인코더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(Generator)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워터마크를 삽입하고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크리틱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(Discriminator)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이를 구분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하려 하면서 서로 경쟁하는 적대적 </a:t>
                      </a: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01600" marR="0" indent="-10160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(adversarial training)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구조를 사용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→ </a:t>
                      </a:r>
                      <a:r>
                        <a:rPr lang="ko-KR" altLang="en-US" sz="1800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워터마킹된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영상이 자연스럽고 시각적 품질이 매우 높음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92" marR="37292" marT="10310" marB="10310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48002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579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903972"/>
              </p:ext>
            </p:extLst>
          </p:nvPr>
        </p:nvGraphicFramePr>
        <p:xfrm>
          <a:off x="0" y="17145"/>
          <a:ext cx="12192000" cy="6840855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124703046"/>
                    </a:ext>
                  </a:extLst>
                </a:gridCol>
              </a:tblGrid>
              <a:tr h="80803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방법론</a:t>
                      </a:r>
                      <a:endParaRPr lang="ko-KR" altLang="en-US" sz="3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0792" marR="40792" marT="11278" marB="11278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139093"/>
                  </a:ext>
                </a:extLst>
              </a:tr>
              <a:tr h="603282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Attention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ko-KR" altLang="en-US" sz="18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임베딩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메커니즘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298450" marR="0" indent="-298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픽셀마다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워터마크의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어떤 비트에 주목할지 결정하는 확률 분포를 학습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함으로써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데이터와 이미지의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공간적</a:t>
                      </a: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98450" marR="0" indent="-298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연관성을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최적화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내의 물체나 질감에 따라 서로 다른 비트가 은닉되며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스케일 변화나 압축에도 강인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Encoder–Decoder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인코더는 비디오에 워터마크를 삽입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하고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디코더는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비디오에서 워터마크를 복원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인코더는 원본 프레임에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±0.01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이내의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(residual)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추가하여 시각적 품질을 유지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Critic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Adversary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Critic: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워터마크가 삽입된 비디오와 원본 비디오의 차이를 평가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하여 시각적 왜곡을 최소화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Adversary: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공격자가 워터마크를 제거하려는 행위를 모방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하여 모델의 강인성을 향상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968998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86543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6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737265"/>
              </p:ext>
            </p:extLst>
          </p:nvPr>
        </p:nvGraphicFramePr>
        <p:xfrm>
          <a:off x="0" y="0"/>
          <a:ext cx="12192000" cy="6903911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676274952"/>
                    </a:ext>
                  </a:extLst>
                </a:gridCol>
              </a:tblGrid>
              <a:tr h="810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Architecture</a:t>
                      </a:r>
                      <a:endParaRPr lang="ko-KR" altLang="en-US" sz="3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0792" marR="40792" marT="11278" marB="11278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570114"/>
                  </a:ext>
                </a:extLst>
              </a:tr>
              <a:tr h="60479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en-US" altLang="ko-KR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T(Time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 프레임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W(width)/H(Height)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높이 픽셀 수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RGB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번째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Convolutional Block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비디오의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채널로 변환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번째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Convolutional Block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32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채널을 데이터 차원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변환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논문에서는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∈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{32, 64}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언급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en-US" altLang="ko-KR" sz="1800" kern="0" spc="0" dirty="0" err="1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Softmax</a:t>
                      </a:r>
                      <a:r>
                        <a:rPr lang="en-US" altLang="ko-KR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활성화 함수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Softmax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함수를 마지막 차원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(dim=3,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적용하여 각 픽셀 위치에서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7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D</a:t>
                      </a:r>
                      <a:r>
                        <a:rPr lang="ko-KR" altLang="en-US" sz="18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데이터 비트에 대한 확률 분포를 생성</a:t>
                      </a:r>
                      <a:r>
                        <a:rPr lang="en-US" altLang="ko-KR" sz="18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lang="ko-KR" altLang="en-US" sz="1800" kern="0" spc="-7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픽셀마다</a:t>
                      </a:r>
                      <a:r>
                        <a:rPr lang="ko-KR" altLang="en-US" sz="18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8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값으로 구성된 확률 분포 생성</a:t>
                      </a:r>
                      <a:r>
                        <a:rPr lang="en-US" altLang="ko-KR" sz="1800" kern="0" spc="-7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Attention Mask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원본 비디오의 각 픽셀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높이 위치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워터마크 데이터의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비트 중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어떤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비트에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주의를 기울여야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하는지를 나타내는 확률 분포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담고있음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-5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예를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들어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픽셀 위치에서 </a:t>
                      </a:r>
                      <a:r>
                        <a:rPr lang="en-US" altLang="ko-KR" sz="1800" kern="0" spc="-5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Attention Mask</a:t>
                      </a:r>
                      <a:r>
                        <a:rPr lang="ko-KR" altLang="en-US" sz="1800" kern="0" spc="-5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</a:t>
                      </a:r>
                      <a:r>
                        <a:rPr lang="en-US" altLang="ko-KR" sz="1800" kern="0" spc="-5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[0.9,0.1,0,...,0]</a:t>
                      </a:r>
                      <a:r>
                        <a:rPr lang="ko-KR" altLang="en-US" sz="1800" kern="0" spc="-5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같은 값을 가진다면</a:t>
                      </a:r>
                      <a:r>
                        <a:rPr lang="en-US" altLang="ko-KR" sz="1800" kern="0" spc="-5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픽셀은 </a:t>
                      </a:r>
                      <a:r>
                        <a:rPr lang="ko-KR" altLang="en-US" sz="1800" kern="0" spc="-2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 번째 비트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정보를</a:t>
                      </a:r>
                      <a:endParaRPr lang="en-US" altLang="ko-KR" sz="1800" kern="0" spc="0" dirty="0" smtClean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baseline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숨기기에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가장 적합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하다는 것을 의미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642070"/>
                  </a:ext>
                </a:extLst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86543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931" y="837306"/>
            <a:ext cx="6191507" cy="316573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769931" y="888106"/>
            <a:ext cx="6191507" cy="6663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57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86543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159" y="760918"/>
            <a:ext cx="6191507" cy="316573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681158" y="1545330"/>
            <a:ext cx="6191507" cy="11673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367465"/>
              </p:ext>
            </p:extLst>
          </p:nvPr>
        </p:nvGraphicFramePr>
        <p:xfrm>
          <a:off x="0" y="4186"/>
          <a:ext cx="12192000" cy="6795079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64816137"/>
                    </a:ext>
                  </a:extLst>
                </a:gridCol>
              </a:tblGrid>
              <a:tr h="68053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Architecture</a:t>
                      </a:r>
                      <a:endParaRPr lang="ko-KR" altLang="en-US" sz="3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0792" marR="40792" marT="11278" marB="11278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955259"/>
                  </a:ext>
                </a:extLst>
              </a:tr>
              <a:tr h="60149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텐서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압축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어텐션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마스크와 워터마크 메시지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곱하여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압축된 데이터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텐서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(T,W,H,1)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생성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Concatenation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결합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):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비디오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압축된 데이터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텐서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채널 차원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결합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번째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Convolutional Block: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결합된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텐서의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채널로 변환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번째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Convolutional Block: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채널로 변환하여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residual mask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생성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en-US" altLang="ko-KR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residual</a:t>
                      </a:r>
                      <a:r>
                        <a:rPr lang="ko-KR" altLang="en-US" sz="1800" kern="0" spc="-40" dirty="0" smtClean="0">
                          <a:solidFill>
                            <a:srgbClr val="0000FF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-4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r>
                        <a:rPr lang="en-US" altLang="ko-KR" sz="1800" kern="0" spc="-4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kern="0" spc="-4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residual mask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스케일링 인자 </a:t>
                      </a:r>
                      <a:r>
                        <a:rPr lang="en-US" altLang="ko-KR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곱하고 </a:t>
                      </a:r>
                      <a:r>
                        <a:rPr lang="en-US" altLang="ko-KR" sz="1800" kern="0" spc="-4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TanH</a:t>
                      </a:r>
                      <a:r>
                        <a:rPr lang="en-US" altLang="ko-KR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활성화 함수를 적용하여 픽셀 변동을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4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제한한 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</a:t>
                      </a:r>
                      <a:r>
                        <a:rPr lang="en-US" altLang="ko-KR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비디오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더하여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V′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생성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0792" marR="40792" marT="11278" marB="11278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066089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86543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39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830862"/>
              </p:ext>
            </p:extLst>
          </p:nvPr>
        </p:nvGraphicFramePr>
        <p:xfrm>
          <a:off x="0" y="1"/>
          <a:ext cx="12192000" cy="7759327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909248967"/>
                    </a:ext>
                  </a:extLst>
                </a:gridCol>
              </a:tblGrid>
              <a:tr h="65917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Architecture</a:t>
                      </a:r>
                      <a:endParaRPr lang="ko-KR" altLang="en-US" sz="3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648974"/>
                  </a:ext>
                </a:extLst>
              </a:tr>
              <a:tr h="450130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(V′)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로부터 원본 워터마크 비트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추출하며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디코더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역시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어텐션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마스크를 사용하여 추출 과정을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최적화하는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것을 목적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Convolutional Block: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채널로 변환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Convolutional Block: 32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채널을 데이터 차원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변환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en-US" altLang="ko-KR" sz="1800" kern="0" spc="-4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Attention </a:t>
                      </a:r>
                      <a:r>
                        <a:rPr lang="en-US" altLang="ko-KR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Pooling: </a:t>
                      </a:r>
                      <a:r>
                        <a:rPr lang="ko-KR" altLang="en-US" sz="1800" kern="0" spc="-4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어텐션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모듈에서 생성된 마스크 </a:t>
                      </a:r>
                      <a:r>
                        <a:rPr lang="en-US" altLang="ko-KR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T(V^)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사용하여 </a:t>
                      </a:r>
                      <a:r>
                        <a:rPr lang="ko-KR" altLang="en-US" sz="1800" kern="0" spc="-4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예측값에</a:t>
                      </a:r>
                      <a:r>
                        <a:rPr lang="ko-KR" altLang="en-US" sz="1800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가중치를 부여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Adaptive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 Pooling: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가중치가 부여된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텐서에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대해 평균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풀링을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수행하여 최종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차원 워터마크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예측값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67710"/>
                  </a:ext>
                </a:extLst>
              </a:tr>
              <a:tr h="118952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448406"/>
                  </a:ext>
                </a:extLst>
              </a:tr>
            </a:tbl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931" y="837306"/>
            <a:ext cx="6191507" cy="3165733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2769931" y="2806569"/>
            <a:ext cx="6191507" cy="11964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33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519081"/>
              </p:ext>
            </p:extLst>
          </p:nvPr>
        </p:nvGraphicFramePr>
        <p:xfrm>
          <a:off x="0" y="3810"/>
          <a:ext cx="12192000" cy="7097105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535620937"/>
                    </a:ext>
                  </a:extLst>
                </a:gridCol>
              </a:tblGrid>
              <a:tr h="5266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Architecture</a:t>
                      </a:r>
                      <a:endParaRPr lang="ko-KR" altLang="en-US" sz="3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974622"/>
                  </a:ext>
                </a:extLst>
              </a:tr>
              <a:tr h="402449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898650" marR="0" indent="-18986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en-US" altLang="ko-KR" sz="1800" kern="0" spc="0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Generator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생성자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그림의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Encoder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Attention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모듈이 이 역할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Encoder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원본 비디오에 워터마크를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삽입하여</a:t>
                      </a: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98650" marR="0" indent="-18986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생성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Attention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모듈은 이 생성 과정에서 어떤 데이터를 어디에 숨길지 조절하는 역할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85090" marR="0" indent="-850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en-US" altLang="ko-KR" sz="1800" kern="0" spc="-5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Discriminator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판별자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):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논문에서는 두 개의 독립적인 적대적 네트워크를 사용하는데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이들이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GAN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판별자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역할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2087880" marR="0" indent="-208788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Critic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(C):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비디오가 원본과 얼마나 </a:t>
                      </a:r>
                      <a:r>
                        <a:rPr lang="ko-KR" altLang="en-US" sz="1800" kern="0" spc="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유사한지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비가시성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평가하는 </a:t>
                      </a:r>
                      <a:r>
                        <a:rPr lang="ko-KR" altLang="en-US" sz="1800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판별자</a:t>
                      </a: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2087880" marR="0" indent="-208788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800" kern="0" spc="-1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네트워크는 </a:t>
                      </a:r>
                      <a:r>
                        <a:rPr lang="ko-KR" altLang="en-US" sz="1800" kern="0" spc="-1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800" kern="0" spc="-1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비디오의 시각적 품질을 판별하며</a:t>
                      </a:r>
                      <a:r>
                        <a:rPr lang="en-US" altLang="ko-KR" sz="1800" kern="0" spc="-1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Encoder</a:t>
                      </a:r>
                      <a:r>
                        <a:rPr lang="ko-KR" altLang="en-US" sz="1800" kern="0" spc="-1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이 </a:t>
                      </a:r>
                      <a:r>
                        <a:rPr lang="en-US" altLang="ko-KR" sz="1800" kern="0" spc="-1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Critic</a:t>
                      </a:r>
                      <a:r>
                        <a:rPr lang="ko-KR" altLang="en-US" sz="1800" kern="0" spc="-1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속여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비디오가</a:t>
                      </a:r>
                      <a:endParaRPr lang="en-US" altLang="ko-KR" sz="18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087880" marR="0" indent="-208788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ko-KR" altLang="en-US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원본처럼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보이도록 학습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2533650" marR="0" indent="-25336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en-US" altLang="ko-KR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Adversary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(A):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워터마크를 제거하려고 시도하는 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공격자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역할을 하는 </a:t>
                      </a:r>
                      <a:r>
                        <a:rPr lang="ko-KR" altLang="en-US" sz="1800" kern="0" spc="-3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판별자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2533650" marR="0" indent="-25336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3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네트워크는 </a:t>
                      </a:r>
                      <a:r>
                        <a:rPr lang="ko-KR" altLang="en-US" sz="1800" kern="0" spc="-3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마크된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비디오에서 </a:t>
                      </a:r>
                      <a:r>
                        <a:rPr lang="ko-KR" altLang="en-US" sz="18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워터마크를 제거하여 원본에 가까운 영상을 만듦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으로써</a:t>
                      </a: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marL="2533650" marR="0" indent="-25336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18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Encoder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이러한 공격에도 워터마크를 견고하게 유지하도록 학습을 유도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617574"/>
                  </a:ext>
                </a:extLst>
              </a:tr>
              <a:tr h="23030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596239"/>
                  </a:ext>
                </a:extLst>
              </a:tr>
            </a:tbl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8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379939"/>
              </p:ext>
            </p:extLst>
          </p:nvPr>
        </p:nvGraphicFramePr>
        <p:xfrm>
          <a:off x="0" y="934721"/>
          <a:ext cx="12192000" cy="5923278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153562093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931713524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3005712968"/>
                    </a:ext>
                  </a:extLst>
                </a:gridCol>
                <a:gridCol w="4409440">
                  <a:extLst>
                    <a:ext uri="{9D8B030D-6E8A-4147-A177-3AD203B41FA5}">
                      <a16:colId xmlns:a16="http://schemas.microsoft.com/office/drawing/2014/main" val="3925516963"/>
                    </a:ext>
                  </a:extLst>
                </a:gridCol>
              </a:tblGrid>
              <a:tr h="4821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손실함수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대상 네트워크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방법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617574"/>
                  </a:ext>
                </a:extLst>
              </a:tr>
              <a:tr h="987213">
                <a:tc>
                  <a:txBody>
                    <a:bodyPr/>
                    <a:lstStyle/>
                    <a:p>
                      <a:pPr marL="1258570" marR="0" indent="-125857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</a:t>
                      </a: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​(CE loss)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Encoder (E),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Decoder (D)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워터마크와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복원된 워터마크 </a:t>
                      </a: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간의</a:t>
                      </a:r>
                      <a:endParaRPr lang="en-US" altLang="ko-KR" sz="1600" b="1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 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기본적인 워터마크 복원 정확도 향상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716597"/>
                  </a:ext>
                </a:extLst>
              </a:tr>
              <a:tr h="1492245">
                <a:tc>
                  <a:txBody>
                    <a:bodyPr/>
                    <a:lstStyle/>
                    <a:p>
                      <a:pPr marL="1995170" marR="0" indent="-199517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Lc(Score)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Encoder (E)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Critic (C)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비디오에 부여하는 점수를 최대화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원본과의 점수차이 최소화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워터마크의 비가시성 극대화 </a:t>
                      </a:r>
                      <a:r>
                        <a:rPr lang="en-US" altLang="ko-KR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(Critic</a:t>
                      </a:r>
                      <a:r>
                        <a:rPr lang="ko-KR" alt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속임</a:t>
                      </a:r>
                      <a:r>
                        <a:rPr lang="en-US" altLang="ko-KR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68950"/>
                  </a:ext>
                </a:extLst>
              </a:tr>
              <a:tr h="987213">
                <a:tc>
                  <a:txBody>
                    <a:bodyPr/>
                    <a:lstStyle/>
                    <a:p>
                      <a:pPr marL="1271270" marR="0" indent="-127127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La​(CE loss)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Encoder (E),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Decoder (D)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워터마크와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공격 </a:t>
                      </a: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</a:t>
                      </a:r>
                      <a:endParaRPr lang="en-US" altLang="ko-KR" sz="1600" b="1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복원된 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 간의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 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Adversary 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공격에 대한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강건성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확보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963729"/>
                  </a:ext>
                </a:extLst>
              </a:tr>
              <a:tr h="987213">
                <a:tc>
                  <a:txBody>
                    <a:bodyPr/>
                    <a:lstStyle/>
                    <a:p>
                      <a:pPr marL="1271270" marR="0" indent="-127127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Lw(Score)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Critic (C)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비디오와 </a:t>
                      </a:r>
                      <a:r>
                        <a:rPr lang="ko-KR" altLang="en-US" sz="16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endParaRPr lang="en-US" altLang="ko-KR" sz="1600" b="1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비디오와의 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 최대화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원본과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워터마크된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비디오 구별 능력 향상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37394"/>
                  </a:ext>
                </a:extLst>
              </a:tr>
              <a:tr h="987213">
                <a:tc>
                  <a:txBody>
                    <a:bodyPr/>
                    <a:lstStyle/>
                    <a:p>
                      <a:pPr marL="1271270" marR="0" indent="-127127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Lr​(CE loss)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Adversary (A)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워터마크와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디코더가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복원한</a:t>
                      </a:r>
                      <a:endParaRPr lang="en-US" altLang="ko-KR" sz="1600" b="1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워터마크의</a:t>
                      </a: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 최대화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워터마크 제거 능력 향상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596239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014552"/>
              </p:ext>
            </p:extLst>
          </p:nvPr>
        </p:nvGraphicFramePr>
        <p:xfrm>
          <a:off x="0" y="3810"/>
          <a:ext cx="12192000" cy="1242266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535620937"/>
                    </a:ext>
                  </a:extLst>
                </a:gridCol>
              </a:tblGrid>
              <a:tr h="5001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Architecture</a:t>
                      </a:r>
                      <a:endParaRPr lang="ko-KR" altLang="en-US" sz="3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974622"/>
                  </a:ext>
                </a:extLst>
              </a:tr>
              <a:tr h="27194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617574"/>
                  </a:ext>
                </a:extLst>
              </a:tr>
              <a:tr h="15562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59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29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658156"/>
              </p:ext>
            </p:extLst>
          </p:nvPr>
        </p:nvGraphicFramePr>
        <p:xfrm>
          <a:off x="0" y="3811"/>
          <a:ext cx="12192000" cy="7921535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535620937"/>
                    </a:ext>
                  </a:extLst>
                </a:gridCol>
              </a:tblGrid>
              <a:tr h="70099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Experimental</a:t>
                      </a:r>
                      <a:r>
                        <a:rPr lang="en-US" altLang="ko-KR" sz="3600" b="1" kern="0" spc="0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Results</a:t>
                      </a:r>
                      <a:endParaRPr lang="en-US" altLang="ko-KR" sz="36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76" marR="21676" marT="5993" marB="5993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974622"/>
                  </a:ext>
                </a:extLst>
              </a:tr>
              <a:tr h="408486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데이터셋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Hollywood2 (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 분량의 영화 클립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임베딩 비트 수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32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비트</a:t>
                      </a:r>
                      <a:endParaRPr lang="en-US" altLang="ko-KR" sz="180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지표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PSNR, SSIM,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워터마크 복원 정확도</a:t>
                      </a:r>
                      <a:endParaRPr lang="en-US" altLang="ko-KR" sz="180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endParaRPr lang="ko-KR" altLang="en-US" sz="180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endParaRPr lang="en-US" altLang="ko-KR" sz="180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PSNR: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영상 품질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시각적 손상 정도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나타내는 대표적인 수치</a:t>
                      </a:r>
                      <a:endParaRPr lang="en-US" altLang="ko-KR" sz="180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SSIM: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영상의 구조적 유사도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즉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인간이 인식하는 “시각적 품질”을 측정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MJPEG: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압축 후 워터마크 복원 정확도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Cropping: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비디오 일부가 잘렸을 때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손실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워터마크 복원률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Scaling: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비디오 해상도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크기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변할 때 워터마크 복원 정확도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제안된 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Attention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모델은 </a:t>
                      </a:r>
                      <a:r>
                        <a:rPr lang="ko-KR" altLang="en-US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</a:t>
                      </a:r>
                      <a:r>
                        <a:rPr lang="en-US" altLang="ko-KR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CNN </a:t>
                      </a:r>
                      <a:r>
                        <a:rPr lang="ko-KR" altLang="en-US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워터마킹보다 압축</a:t>
                      </a:r>
                      <a:r>
                        <a:rPr lang="en-US" altLang="ko-KR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자르기</a:t>
                      </a:r>
                      <a:r>
                        <a:rPr lang="en-US" altLang="ko-KR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스케일 변경에 대해 현저히 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복원율</a:t>
                      </a:r>
                      <a:r>
                        <a:rPr lang="en-US" altLang="ko-KR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(&gt;98%)</a:t>
                      </a:r>
                      <a:r>
                        <a:rPr lang="ko-KR" altLang="en-US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보임</a:t>
                      </a:r>
                      <a:r>
                        <a:rPr lang="en-US" altLang="ko-KR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실험에서도 인간이 워터마크된 영상을 식별할 확률은 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 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수준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거의 랜덤 추측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</a:t>
                      </a:r>
                      <a:r>
                        <a:rPr lang="en-US" altLang="ko-KR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endParaRPr lang="ko-KR" altLang="en-US" sz="180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80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워터마크가 사실상 보이지 않음을 입증</a:t>
                      </a:r>
                      <a:r>
                        <a:rPr lang="en-US" altLang="ko-KR" sz="180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617574"/>
                  </a:ext>
                </a:extLst>
              </a:tr>
              <a:tr h="181432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596239"/>
                  </a:ext>
                </a:extLst>
              </a:tr>
            </a:tbl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203419"/>
              </p:ext>
            </p:extLst>
          </p:nvPr>
        </p:nvGraphicFramePr>
        <p:xfrm>
          <a:off x="406400" y="1981200"/>
          <a:ext cx="1067816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632">
                  <a:extLst>
                    <a:ext uri="{9D8B030D-6E8A-4147-A177-3AD203B41FA5}">
                      <a16:colId xmlns:a16="http://schemas.microsoft.com/office/drawing/2014/main" val="809461771"/>
                    </a:ext>
                  </a:extLst>
                </a:gridCol>
                <a:gridCol w="2135632">
                  <a:extLst>
                    <a:ext uri="{9D8B030D-6E8A-4147-A177-3AD203B41FA5}">
                      <a16:colId xmlns:a16="http://schemas.microsoft.com/office/drawing/2014/main" val="532902147"/>
                    </a:ext>
                  </a:extLst>
                </a:gridCol>
                <a:gridCol w="2135632">
                  <a:extLst>
                    <a:ext uri="{9D8B030D-6E8A-4147-A177-3AD203B41FA5}">
                      <a16:colId xmlns:a16="http://schemas.microsoft.com/office/drawing/2014/main" val="3324200459"/>
                    </a:ext>
                  </a:extLst>
                </a:gridCol>
                <a:gridCol w="2135632">
                  <a:extLst>
                    <a:ext uri="{9D8B030D-6E8A-4147-A177-3AD203B41FA5}">
                      <a16:colId xmlns:a16="http://schemas.microsoft.com/office/drawing/2014/main" val="2211621716"/>
                    </a:ext>
                  </a:extLst>
                </a:gridCol>
                <a:gridCol w="2135632">
                  <a:extLst>
                    <a:ext uri="{9D8B030D-6E8A-4147-A177-3AD203B41FA5}">
                      <a16:colId xmlns:a16="http://schemas.microsoft.com/office/drawing/2014/main" val="180132107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PSNR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SSIM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MJPEG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</a:rPr>
                        <a:t>압축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Cropping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Scaling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77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42.05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0.960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0.992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0.988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0.981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809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96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416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108062"/>
              </p:ext>
            </p:extLst>
          </p:nvPr>
        </p:nvGraphicFramePr>
        <p:xfrm>
          <a:off x="0" y="3811"/>
          <a:ext cx="12192000" cy="6669240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535620937"/>
                    </a:ext>
                  </a:extLst>
                </a:gridCol>
              </a:tblGrid>
              <a:tr h="70099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3600" b="1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Conclusion</a:t>
                      </a:r>
                      <a:endParaRPr lang="en-US" altLang="ko-KR" sz="36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76" marR="21676" marT="5993" marB="5993" anchor="ctr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974622"/>
                  </a:ext>
                </a:extLst>
              </a:tr>
              <a:tr h="408486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장점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시각적 왜곡 최소화 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인간이 구분할 수 없을 정도의 투명한 </a:t>
                      </a:r>
                      <a:r>
                        <a:rPr lang="ko-KR" altLang="en-US" sz="180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워터마킹</a:t>
                      </a:r>
                      <a:endParaRPr lang="ko-KR" altLang="en-US" sz="18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3000"/>
                        </a:lnSpc>
                        <a:buFontTx/>
                        <a:buNone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강력한 복원 능력 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압축</a:t>
                      </a:r>
                      <a:r>
                        <a:rPr lang="en-US" altLang="ko-KR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크롭</a:t>
                      </a:r>
                      <a:r>
                        <a:rPr lang="en-US" altLang="ko-KR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스케일 변환에도 높은 정확도 유지</a:t>
                      </a:r>
                      <a:endParaRPr lang="en-US" altLang="ko-KR" sz="18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3000"/>
                        </a:lnSpc>
                        <a:buFontTx/>
                        <a:buChar char="-"/>
                      </a:pPr>
                      <a:endParaRPr lang="ko-KR" alt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한계점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Attention + Encoder + Decoder + Critic + Adversary </a:t>
                      </a:r>
                      <a:r>
                        <a:rPr lang="en-US" altLang="ko-KR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개의 네트워크 학습으로 인한 계산 비용 증가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논문에서는 회전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색보정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등 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다양한 환경의 공격에 대한 실험 </a:t>
                      </a:r>
                      <a:r>
                        <a:rPr lang="ko-KR" altLang="en-US" sz="180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부존재</a:t>
                      </a:r>
                      <a:endParaRPr lang="ko-KR" altLang="en-US" sz="18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모델이 다루는 워터마크 비트 수는 </a:t>
                      </a:r>
                      <a:r>
                        <a:rPr lang="en-US" altLang="ko-KR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32~64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비트로 해상도가 커져도 </a:t>
                      </a:r>
                      <a:r>
                        <a:rPr lang="ko-KR" altLang="en-US" sz="180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워터마킹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용량은 낮은 수준 유지</a:t>
                      </a:r>
                    </a:p>
                    <a:p>
                      <a:pPr fontAlgn="base" latinLnBrk="1">
                        <a:lnSpc>
                          <a:spcPts val="3000"/>
                        </a:lnSpc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학습 데이터로 </a:t>
                      </a:r>
                      <a:r>
                        <a:rPr lang="en-US" altLang="ko-KR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Hollywood2 dataset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 사용</a:t>
                      </a:r>
                      <a:r>
                        <a:rPr lang="en-US" altLang="ko-KR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데이터셋</a:t>
                      </a:r>
                      <a:r>
                        <a:rPr lang="ko-KR" altLang="en-US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편향 가능성</a:t>
                      </a:r>
                      <a:r>
                        <a:rPr lang="en-US" altLang="ko-KR" sz="18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 w="35941" cap="flat" cmpd="sng" algn="ctr">
                      <a:solidFill>
                        <a:srgbClr val="B600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617574"/>
                  </a:ext>
                </a:extLst>
              </a:tr>
              <a:tr h="181432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1676" marR="21676" marT="5993" marB="59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596239"/>
                  </a:ext>
                </a:extLst>
              </a:tr>
            </a:tbl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379913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22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879725" y="1824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36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2408</Words>
  <Application>Microsoft Office PowerPoint</Application>
  <PresentationFormat>와이드스크린</PresentationFormat>
  <Paragraphs>464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KoPubWorld돋움체 Bold</vt:lpstr>
      <vt:lpstr>Noto Sans KR</vt:lpstr>
      <vt:lpstr>나눔스퀘어 ExtraBold</vt:lpstr>
      <vt:lpstr>맑은 고딕</vt:lpstr>
      <vt:lpstr>함초롬바탕</vt:lpstr>
      <vt:lpstr>Arial</vt:lpstr>
      <vt:lpstr>Office 테마</vt:lpstr>
      <vt:lpstr>E2E 이미지 워터마크 모델: 공통적인 구조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김현우</dc:creator>
  <cp:lastModifiedBy>김현우</cp:lastModifiedBy>
  <cp:revision>35</cp:revision>
  <dcterms:created xsi:type="dcterms:W3CDTF">2026-04-27T08:05:45Z</dcterms:created>
  <dcterms:modified xsi:type="dcterms:W3CDTF">2026-04-27T17:05:09Z</dcterms:modified>
</cp:coreProperties>
</file>